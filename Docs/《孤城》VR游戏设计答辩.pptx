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60" r:id="rId6"/>
    <p:sldId id="259" r:id="rId7"/>
    <p:sldId id="288" r:id="rId8"/>
    <p:sldId id="287" r:id="rId9"/>
    <p:sldId id="264" r:id="rId10"/>
    <p:sldId id="261" r:id="rId11"/>
    <p:sldId id="262" r:id="rId12"/>
    <p:sldId id="270" r:id="rId13"/>
    <p:sldId id="263" r:id="rId14"/>
    <p:sldId id="290" r:id="rId15"/>
    <p:sldId id="289" r:id="rId16"/>
    <p:sldId id="265" r:id="rId17"/>
    <p:sldId id="275" r:id="rId18"/>
    <p:sldId id="284" r:id="rId19"/>
    <p:sldId id="285" r:id="rId20"/>
    <p:sldId id="286" r:id="rId21"/>
    <p:sldId id="274" r:id="rId22"/>
    <p:sldId id="267" r:id="rId23"/>
    <p:sldId id="273" r:id="rId24"/>
    <p:sldId id="268" r:id="rId25"/>
    <p:sldId id="26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7543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008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539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6916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87924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9414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4261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THE ISOLATED FORTRESS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VR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历史仿真交互项目 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|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重回公元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75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年的疏勒城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 |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陈琦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2023212638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王新弈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2023217674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47115">
            <a:off x="1555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159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项目概述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突破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</a:t>
            </a:r>
            <a:r>
              <a:rPr lang="en-US" altLang="zh-CN"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VR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体验与文旅叙事的瓶颈， 以真实物理运动为核心的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历史仿真体验。</a:t>
            </a:r>
          </a:p>
          <a:p>
            <a:pPr algn="l"/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106052"/>
            <a:ext cx="5207000" cy="1211947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1" name="AutoShape 11"/>
          <p:cNvSpPr/>
          <p:nvPr/>
        </p:nvSpPr>
        <p:spPr>
          <a:xfrm>
            <a:off x="762000" y="3106051"/>
            <a:ext cx="76199" cy="127544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47115">
            <a:off x="1555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159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Microsoft YaHei"/>
                <a:ea typeface="Microsoft YaHei"/>
                <a:sym typeface="Noto Serif SC"/>
              </a:rPr>
              <a:t>制作流程</a:t>
            </a:r>
            <a:endParaRPr lang="en-US" altLang="zh-CN" sz="1400" b="1" dirty="0">
              <a:solidFill>
                <a:schemeClr val="bg1"/>
              </a:solidFill>
              <a:latin typeface="Microsoft YaHei"/>
              <a:ea typeface="Microsoft YaHei"/>
              <a:sym typeface="Noto Serif SC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>
              <a:solidFill>
                <a:schemeClr val="bg1"/>
              </a:solidFill>
            </a:endParaRPr>
          </a:p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在</a:t>
            </a:r>
            <a:r>
              <a:rPr lang="en-US" altLang="zh-CN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Unity</a:t>
            </a:r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中制作</a:t>
            </a:r>
            <a:r>
              <a:rPr lang="en-US" altLang="zh-CN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Pico VR</a:t>
            </a:r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项目各个步骤：导包及场景创建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47115">
            <a:off x="1555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159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运行流程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个场景，一个核心主场景；</a:t>
            </a:r>
            <a:r>
              <a:rPr lang="zh-CN" altLang="en-US" sz="1100" b="0">
                <a:solidFill>
                  <a:srgbClr val="FFFFFF"/>
                </a:solidFill>
                <a:latin typeface="Microsoft YaHei"/>
                <a:ea typeface="Microsoft YaHei"/>
              </a:rPr>
              <a:t>进入主场景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后的攻防战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AutoShape 21"/>
          <p:cNvSpPr/>
          <p:nvPr/>
        </p:nvSpPr>
        <p:spPr>
          <a:xfrm>
            <a:off x="762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7115">
            <a:off x="1555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159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核心玩法详解</a:t>
            </a:r>
            <a:endParaRPr lang="en-US" altLang="zh-CN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zh-CN" altLang="en-US" sz="10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城墙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射击压制敌军 </a:t>
            </a:r>
            <a:r>
              <a:rPr lang="en-US" altLang="zh-CN" sz="110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与攻城士兵格斗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4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47115">
            <a:off x="7143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747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技术实现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8333"/>
              </a:lnSpc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重要逻辑（箭雨物理等）、美术实现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350000" y="3106052"/>
            <a:ext cx="5207000" cy="1211947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3106051"/>
            <a:ext cx="76199" cy="127544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04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7115">
            <a:off x="7143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747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性能优化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对象池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等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350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350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47115">
            <a:off x="7143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747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问题与解决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兼容性修复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350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350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04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08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5347115">
            <a:off x="7143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7747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价值延伸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文旅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938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行业之困：VR 体验与文旅叙事的双重瓶颈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0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VR </a:t>
            </a:r>
            <a:r>
              <a:rPr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交互设计的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三</a:t>
            </a:r>
            <a:r>
              <a:rPr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大极端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34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✗ 被动观看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传统 360° 全景视频让体验者沦为被动的摄像机，缺乏交互性，难以产生代入感。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✗ 粗暴移植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直接将 PC 游戏的 UI 点击与摇杆移动移植到 VR，破坏沉浸感，极易产生眩晕。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✗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体感脱节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endParaRPr lang="en-US" sz="1100" dirty="0"/>
          </a:p>
          <a:p>
            <a:pPr algn="l"/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身体真实动作与虚拟反馈不一致，捕捉延迟或错位，让用户产生割裂感，体验不自然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4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文旅与历史叙事的三大困境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88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遗址"沉默"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静态遗址难以向游客讲述背后的英雄史诗，历史厚度被稀释。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45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形式单一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传统展板和讲解词冲击力有限，难以形成深刻的记忆与情感共鸣。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体验同质化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缺乏互动性与参与感，难以吸引年轻游客，文化吸引力不足。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noProof="1"/>
          </a:p>
        </p:txBody>
      </p:sp>
      <p:sp>
        <p:nvSpPr>
          <p:cNvPr id="3" name="AutoShape 3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noProof="1">
                <a:solidFill>
                  <a:srgbClr val="FFFFFF"/>
                </a:solidFill>
                <a:latin typeface="Microsoft YaHei"/>
                <a:ea typeface="Microsoft YaHei"/>
              </a:rPr>
              <a:t>历史背景：疏勒孤城，十三人归玉门</a:t>
            </a:r>
            <a:endParaRPr lang="zh-CN" altLang="en-US" sz="1100" noProof="1"/>
          </a:p>
        </p:txBody>
      </p:sp>
      <p:sp>
        <p:nvSpPr>
          <p:cNvPr id="5" name="AutoShape 5"/>
          <p:cNvSpPr/>
          <p:nvPr/>
        </p:nvSpPr>
        <p:spPr>
          <a:xfrm>
            <a:off x="635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公元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75 年 ·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围城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35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东汉重设西域都护府，耿恭出任戊己校尉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北匈奴数万大军围疏勒城，截断涧水。</a:t>
            </a:r>
            <a:endParaRPr lang="zh-CN" alt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429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绝境 · 坚守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粮尽，煮铠甲弓弩，食其筋革。匈奴单于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遣使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以"降则封白屋王、妻以女子"诱降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，耿恭手刃来使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公元 76 年 · 救援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汉章帝发张掖、酒泉、敦煌三郡及鄯善兵七千余人出玉门关救援。至疏勒，城中仅余二十六人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17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76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年正月 </a:t>
            </a:r>
            <a:r>
              <a:rPr lang="en-US" altLang="zh-CN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·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十三人归玉门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9017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随援军且战且退，三月至玉门关，仅剩十三人。中郎将郑众上疏："恭之节义，古今未有"。时人称其"节过苏武"</a:t>
            </a:r>
            <a:endParaRPr lang="en-US" sz="11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EA25E-1B66-4BD2-8509-9FE7ECED8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8" b="42187"/>
          <a:stretch/>
        </p:blipFill>
        <p:spPr bwMode="auto">
          <a:xfrm>
            <a:off x="1469846" y="1397000"/>
            <a:ext cx="8998308" cy="221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3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项目概述：重塑历史的具身感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604000" y="215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项目定位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一款以东汉历史为背景的VR体感交互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，摒弃传统游戏的虚拟操控，以“无摇杆”战斗系统，让玩家身临其境，亲身诠释戍边将士的热血与忠诚。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604000" y="368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核心玩法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玩家化身耿恭驻守疏勒城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用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身体动作完成格挡、挥砍、射箭等攻防操作。在匈奴铁骑的围攻下，通过真实的肢体反馈，体验孤城绝境中步步惊心的生存与反击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设计理念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以体感交互为核心，以英雄故事为魂，在绝境坚守中引发玩家对忠诚、勇气与希望的情感共鸣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64AF97-5A37-4060-AC60-AC0A101AA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0" y="2159000"/>
            <a:ext cx="5603490" cy="3966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PICO Integration SDK 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接入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1F53408E-5398-4AC3-A23A-0271B37AE302}"/>
              </a:ext>
            </a:extLst>
          </p:cNvPr>
          <p:cNvSpPr/>
          <p:nvPr/>
        </p:nvSpPr>
        <p:spPr>
          <a:xfrm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35ABB5C6-C328-4131-A88B-CA0DFC2E89A9}"/>
              </a:ext>
            </a:extLst>
          </p:cNvPr>
          <p:cNvSpPr/>
          <p:nvPr/>
        </p:nvSpPr>
        <p:spPr>
          <a:xfrm>
            <a:off x="762000" y="1778000"/>
            <a:ext cx="50800" cy="1143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6">
            <a:extLst>
              <a:ext uri="{FF2B5EF4-FFF2-40B4-BE49-F238E27FC236}">
                <a16:creationId xmlns:a16="http://schemas.microsoft.com/office/drawing/2014/main" id="{977C36CD-9A07-4FDF-BA86-A1A4510C7659}"/>
              </a:ext>
            </a:extLst>
          </p:cNvPr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PICO VR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设备接入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分为三个步骤：注册开发者账号并创建应用获取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APP ID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、配置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开发环境并导入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SDK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、完成项目参数设置。</a:t>
            </a:r>
            <a:endParaRPr lang="en-US" sz="1100" dirty="0"/>
          </a:p>
        </p:txBody>
      </p:sp>
      <p:sp>
        <p:nvSpPr>
          <p:cNvPr id="50" name="AutoShape 7">
            <a:extLst>
              <a:ext uri="{FF2B5EF4-FFF2-40B4-BE49-F238E27FC236}">
                <a16:creationId xmlns:a16="http://schemas.microsoft.com/office/drawing/2014/main" id="{21C28B42-7605-416F-A658-996F81C470DF}"/>
              </a:ext>
            </a:extLst>
          </p:cNvPr>
          <p:cNvSpPr/>
          <p:nvPr/>
        </p:nvSpPr>
        <p:spPr>
          <a:xfrm>
            <a:off x="762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F2B3311F-98C1-452F-A1A7-133E9F2C2F12}"/>
              </a:ext>
            </a:extLst>
          </p:cNvPr>
          <p:cNvSpPr/>
          <p:nvPr/>
        </p:nvSpPr>
        <p:spPr>
          <a:xfrm>
            <a:off x="762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10">
            <a:extLst>
              <a:ext uri="{FF2B5EF4-FFF2-40B4-BE49-F238E27FC236}">
                <a16:creationId xmlns:a16="http://schemas.microsoft.com/office/drawing/2014/main" id="{B719A029-4056-4C89-B3E4-F743E13AFEF7}"/>
              </a:ext>
            </a:extLst>
          </p:cNvPr>
          <p:cNvSpPr/>
          <p:nvPr/>
        </p:nvSpPr>
        <p:spPr>
          <a:xfrm>
            <a:off x="889000" y="3581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注册 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开发者账号并创建应用</a:t>
            </a:r>
            <a:endParaRPr lang="en-US" sz="1100" dirty="0"/>
          </a:p>
        </p:txBody>
      </p:sp>
      <p:sp>
        <p:nvSpPr>
          <p:cNvPr id="53" name="AutoShape 11">
            <a:extLst>
              <a:ext uri="{FF2B5EF4-FFF2-40B4-BE49-F238E27FC236}">
                <a16:creationId xmlns:a16="http://schemas.microsoft.com/office/drawing/2014/main" id="{D04662BF-D70D-4F1B-9930-27F3ED0E46C1}"/>
              </a:ext>
            </a:extLst>
          </p:cNvPr>
          <p:cNvSpPr/>
          <p:nvPr/>
        </p:nvSpPr>
        <p:spPr>
          <a:xfrm>
            <a:off x="952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前往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PICO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开发者平台注册账号并获取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APP ID，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在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Unity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中通过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PICO → Platform Settings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填入。</a:t>
            </a:r>
            <a:endParaRPr lang="en-US" sz="1300" dirty="0">
              <a:solidFill>
                <a:schemeClr val="bg1">
                  <a:alpha val="70196"/>
                </a:schemeClr>
              </a:solidFill>
              <a:latin typeface="Noto Sans SC"/>
            </a:endParaRPr>
          </a:p>
        </p:txBody>
      </p:sp>
      <p:sp>
        <p:nvSpPr>
          <p:cNvPr id="54" name="AutoShape 12">
            <a:extLst>
              <a:ext uri="{FF2B5EF4-FFF2-40B4-BE49-F238E27FC236}">
                <a16:creationId xmlns:a16="http://schemas.microsoft.com/office/drawing/2014/main" id="{C9A2ABBC-0531-4BA0-96C8-46EE6AD3E349}"/>
              </a:ext>
            </a:extLst>
          </p:cNvPr>
          <p:cNvSpPr/>
          <p:nvPr/>
        </p:nvSpPr>
        <p:spPr>
          <a:xfrm>
            <a:off x="43815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13">
            <a:extLst>
              <a:ext uri="{FF2B5EF4-FFF2-40B4-BE49-F238E27FC236}">
                <a16:creationId xmlns:a16="http://schemas.microsoft.com/office/drawing/2014/main" id="{8CC825D0-28B4-4C95-AA99-AF3FE8A07E8B}"/>
              </a:ext>
            </a:extLst>
          </p:cNvPr>
          <p:cNvSpPr/>
          <p:nvPr/>
        </p:nvSpPr>
        <p:spPr>
          <a:xfrm>
            <a:off x="43815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15">
            <a:extLst>
              <a:ext uri="{FF2B5EF4-FFF2-40B4-BE49-F238E27FC236}">
                <a16:creationId xmlns:a16="http://schemas.microsoft.com/office/drawing/2014/main" id="{5B9DF072-081A-4104-9E3C-DECE4C5EFC4A}"/>
              </a:ext>
            </a:extLst>
          </p:cNvPr>
          <p:cNvSpPr/>
          <p:nvPr/>
        </p:nvSpPr>
        <p:spPr>
          <a:xfrm>
            <a:off x="4572000" y="35814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开发环境并导入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SDK</a:t>
            </a:r>
            <a:endParaRPr lang="en-US" sz="1100" dirty="0"/>
          </a:p>
        </p:txBody>
      </p:sp>
      <p:sp>
        <p:nvSpPr>
          <p:cNvPr id="57" name="AutoShape 16">
            <a:extLst>
              <a:ext uri="{FF2B5EF4-FFF2-40B4-BE49-F238E27FC236}">
                <a16:creationId xmlns:a16="http://schemas.microsoft.com/office/drawing/2014/main" id="{48B5F597-0EBC-4CB2-A02E-61C874B3A651}"/>
              </a:ext>
            </a:extLst>
          </p:cNvPr>
          <p:cNvSpPr/>
          <p:nvPr/>
        </p:nvSpPr>
        <p:spPr>
          <a:xfrm>
            <a:off x="45720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官网下载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SDK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在 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Unity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的 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Package Manager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中选中 本地 </a:t>
            </a:r>
            <a:r>
              <a:rPr lang="en-US" altLang="zh-CN" sz="1300" dirty="0" err="1">
                <a:solidFill>
                  <a:schemeClr val="bg1">
                    <a:alpha val="70196"/>
                  </a:schemeClr>
                </a:solidFill>
                <a:latin typeface="Noto Sans SC"/>
              </a:rPr>
              <a:t>package.json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完成导入。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58" name="AutoShape 17">
            <a:extLst>
              <a:ext uri="{FF2B5EF4-FFF2-40B4-BE49-F238E27FC236}">
                <a16:creationId xmlns:a16="http://schemas.microsoft.com/office/drawing/2014/main" id="{FFD02BAF-8A88-412A-8F0C-6DD7F8C44887}"/>
              </a:ext>
            </a:extLst>
          </p:cNvPr>
          <p:cNvSpPr/>
          <p:nvPr/>
        </p:nvSpPr>
        <p:spPr>
          <a:xfrm>
            <a:off x="8001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18">
            <a:extLst>
              <a:ext uri="{FF2B5EF4-FFF2-40B4-BE49-F238E27FC236}">
                <a16:creationId xmlns:a16="http://schemas.microsoft.com/office/drawing/2014/main" id="{28210F61-1884-41EC-BF37-EEC0594FAC69}"/>
              </a:ext>
            </a:extLst>
          </p:cNvPr>
          <p:cNvSpPr/>
          <p:nvPr/>
        </p:nvSpPr>
        <p:spPr>
          <a:xfrm>
            <a:off x="8001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20">
            <a:extLst>
              <a:ext uri="{FF2B5EF4-FFF2-40B4-BE49-F238E27FC236}">
                <a16:creationId xmlns:a16="http://schemas.microsoft.com/office/drawing/2014/main" id="{F0BDE045-65B6-40FB-A66F-738012E28AC4}"/>
              </a:ext>
            </a:extLst>
          </p:cNvPr>
          <p:cNvSpPr/>
          <p:nvPr/>
        </p:nvSpPr>
        <p:spPr>
          <a:xfrm>
            <a:off x="8191500" y="35814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XR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插件、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Player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参数与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 ID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sp>
        <p:nvSpPr>
          <p:cNvPr id="61" name="AutoShape 21">
            <a:extLst>
              <a:ext uri="{FF2B5EF4-FFF2-40B4-BE49-F238E27FC236}">
                <a16:creationId xmlns:a16="http://schemas.microsoft.com/office/drawing/2014/main" id="{7DE6405B-0062-46F6-9B60-7BCE8B4105FC}"/>
              </a:ext>
            </a:extLst>
          </p:cNvPr>
          <p:cNvSpPr/>
          <p:nvPr/>
        </p:nvSpPr>
        <p:spPr>
          <a:xfrm>
            <a:off x="8191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按照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Validation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的各项要求、建议逐个修改项目配置</a:t>
            </a:r>
          </a:p>
        </p:txBody>
      </p:sp>
      <p:cxnSp>
        <p:nvCxnSpPr>
          <p:cNvPr id="62" name="Connector 22">
            <a:extLst>
              <a:ext uri="{FF2B5EF4-FFF2-40B4-BE49-F238E27FC236}">
                <a16:creationId xmlns:a16="http://schemas.microsoft.com/office/drawing/2014/main" id="{32F6BD04-A6A6-47A9-ABC6-4AFF3F873135}"/>
              </a:ext>
            </a:extLst>
          </p:cNvPr>
          <p:cNvCxnSpPr/>
          <p:nvPr/>
        </p:nvCxnSpPr>
        <p:spPr>
          <a:xfrm rot="-4092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23">
            <a:extLst>
              <a:ext uri="{FF2B5EF4-FFF2-40B4-BE49-F238E27FC236}">
                <a16:creationId xmlns:a16="http://schemas.microsoft.com/office/drawing/2014/main" id="{F1CD2EE2-566F-462F-BAA3-D3803B158CCF}"/>
              </a:ext>
            </a:extLst>
          </p:cNvPr>
          <p:cNvSpPr/>
          <p:nvPr/>
        </p:nvSpPr>
        <p:spPr>
          <a:xfrm>
            <a:off x="4496790" y="551815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▌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</a:t>
            </a:r>
            <a:r>
              <a:rPr lang="en-US" altLang="zh-CN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APK 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并安装到 </a:t>
            </a:r>
            <a:r>
              <a:rPr lang="en-US" altLang="zh-CN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确保所有需要场景已添加到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Scenes In Build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列表。通过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USB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设备，点击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Build And Run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APK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文件并安装、运行。</a:t>
            </a:r>
            <a:endParaRPr lang="en-US" sz="1300" b="0" i="0" u="none" strike="noStrike" dirty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30453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VR 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场景搭建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B38C5103-C8C5-4C0A-971B-AF52AF15361D}"/>
              </a:ext>
            </a:extLst>
          </p:cNvPr>
          <p:cNvSpPr/>
          <p:nvPr/>
        </p:nvSpPr>
        <p:spPr>
          <a:xfrm>
            <a:off x="762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25ED32D4-7462-4ACA-A15A-BD095942C2B5}"/>
              </a:ext>
            </a:extLst>
          </p:cNvPr>
          <p:cNvSpPr/>
          <p:nvPr/>
        </p:nvSpPr>
        <p:spPr>
          <a:xfrm>
            <a:off x="952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创建 </a:t>
            </a:r>
            <a:r>
              <a:rPr lang="en-US" altLang="zh-CN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PICO Controller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49" name="Connector 6">
            <a:extLst>
              <a:ext uri="{FF2B5EF4-FFF2-40B4-BE49-F238E27FC236}">
                <a16:creationId xmlns:a16="http://schemas.microsoft.com/office/drawing/2014/main" id="{7E376538-3A1C-4B02-9EE5-ACCBA166B9B7}"/>
              </a:ext>
            </a:extLst>
          </p:cNvPr>
          <p:cNvCxnSpPr/>
          <p:nvPr/>
        </p:nvCxnSpPr>
        <p:spPr>
          <a:xfrm rot="-9291">
            <a:off x="952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AutoShape 7">
            <a:extLst>
              <a:ext uri="{FF2B5EF4-FFF2-40B4-BE49-F238E27FC236}">
                <a16:creationId xmlns:a16="http://schemas.microsoft.com/office/drawing/2014/main" id="{0B81F04E-314B-41D7-BE7C-EF29F3BCA639}"/>
              </a:ext>
            </a:extLst>
          </p:cNvPr>
          <p:cNvSpPr/>
          <p:nvPr/>
        </p:nvSpPr>
        <p:spPr>
          <a:xfrm>
            <a:off x="952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在菜单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+-&gt;PICO Building Blocks 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下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PICO Controller Tracking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组件作为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交互根节点。</a:t>
            </a:r>
            <a:endParaRPr lang="zh-CN" altLang="en-US" sz="1100" dirty="0"/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B94A0EEC-0510-4278-9615-14B16F526B05}"/>
              </a:ext>
            </a:extLst>
          </p:cNvPr>
          <p:cNvSpPr/>
          <p:nvPr/>
        </p:nvSpPr>
        <p:spPr>
          <a:xfrm>
            <a:off x="762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2" name="AutoShape 9">
            <a:extLst>
              <a:ext uri="{FF2B5EF4-FFF2-40B4-BE49-F238E27FC236}">
                <a16:creationId xmlns:a16="http://schemas.microsoft.com/office/drawing/2014/main" id="{7BFE9870-0D31-4BE0-95C2-2CA36282CB38}"/>
              </a:ext>
            </a:extLst>
          </p:cNvPr>
          <p:cNvSpPr/>
          <p:nvPr/>
        </p:nvSpPr>
        <p:spPr>
          <a:xfrm>
            <a:off x="952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配置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TrackedDeviceGraphicRaycaster</a:t>
            </a:r>
            <a:r>
              <a:rPr lang="en-US" altLang="zh-CN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XRUIInputModule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53" name="Connector 10">
            <a:extLst>
              <a:ext uri="{FF2B5EF4-FFF2-40B4-BE49-F238E27FC236}">
                <a16:creationId xmlns:a16="http://schemas.microsoft.com/office/drawing/2014/main" id="{DA283637-1D14-4C40-BDC9-36CCE51F03FE}"/>
              </a:ext>
            </a:extLst>
          </p:cNvPr>
          <p:cNvCxnSpPr/>
          <p:nvPr/>
        </p:nvCxnSpPr>
        <p:spPr>
          <a:xfrm rot="-9291">
            <a:off x="952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11">
            <a:extLst>
              <a:ext uri="{FF2B5EF4-FFF2-40B4-BE49-F238E27FC236}">
                <a16:creationId xmlns:a16="http://schemas.microsoft.com/office/drawing/2014/main" id="{13415E47-9099-4F9B-9A2F-C0558DADC1D9}"/>
              </a:ext>
            </a:extLst>
          </p:cNvPr>
          <p:cNvSpPr/>
          <p:nvPr/>
        </p:nvSpPr>
        <p:spPr>
          <a:xfrm>
            <a:off x="952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在需要交互的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Canvas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TrackedDeviceGraphicRaycaster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组件，替换默认的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GraphicRaycaster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，让它接收来自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设备的射线事件。在场景的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EventSystem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XRUIInputModule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组件，替换默认的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StandaloneInputModule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，负责将射线事件分发给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 lang="zh-CN" altLang="en-US" sz="1100" dirty="0"/>
          </a:p>
        </p:txBody>
      </p:sp>
      <p:sp>
        <p:nvSpPr>
          <p:cNvPr id="55" name="AutoShape 12">
            <a:extLst>
              <a:ext uri="{FF2B5EF4-FFF2-40B4-BE49-F238E27FC236}">
                <a16:creationId xmlns:a16="http://schemas.microsoft.com/office/drawing/2014/main" id="{DE3CEFB4-6DEF-4AD2-A042-5A27937EE895}"/>
              </a:ext>
            </a:extLst>
          </p:cNvPr>
          <p:cNvSpPr/>
          <p:nvPr/>
        </p:nvSpPr>
        <p:spPr>
          <a:xfrm>
            <a:off x="6477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" name="AutoShape 13">
            <a:extLst>
              <a:ext uri="{FF2B5EF4-FFF2-40B4-BE49-F238E27FC236}">
                <a16:creationId xmlns:a16="http://schemas.microsoft.com/office/drawing/2014/main" id="{F74E4EB8-9B69-4A62-8143-2E8B7D9D5D04}"/>
              </a:ext>
            </a:extLst>
          </p:cNvPr>
          <p:cNvSpPr/>
          <p:nvPr/>
        </p:nvSpPr>
        <p:spPr>
          <a:xfrm>
            <a:off x="6667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制作其余场景</a:t>
            </a:r>
            <a:endParaRPr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57" name="Connector 14">
            <a:extLst>
              <a:ext uri="{FF2B5EF4-FFF2-40B4-BE49-F238E27FC236}">
                <a16:creationId xmlns:a16="http://schemas.microsoft.com/office/drawing/2014/main" id="{13709B35-13E2-4D43-A4EF-D79FD9822568}"/>
              </a:ext>
            </a:extLst>
          </p:cNvPr>
          <p:cNvCxnSpPr/>
          <p:nvPr/>
        </p:nvCxnSpPr>
        <p:spPr>
          <a:xfrm rot="-9291">
            <a:off x="6667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AutoShape 15">
            <a:extLst>
              <a:ext uri="{FF2B5EF4-FFF2-40B4-BE49-F238E27FC236}">
                <a16:creationId xmlns:a16="http://schemas.microsoft.com/office/drawing/2014/main" id="{2DBFF153-580F-43C3-A56B-23132C5E8D96}"/>
              </a:ext>
            </a:extLst>
          </p:cNvPr>
          <p:cNvSpPr/>
          <p:nvPr/>
        </p:nvSpPr>
        <p:spPr>
          <a:xfrm>
            <a:off x="6667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其余场景、物体制作和正常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3D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项目一致</a:t>
            </a:r>
            <a:endParaRPr lang="en-US" sz="1100" dirty="0"/>
          </a:p>
        </p:txBody>
      </p:sp>
      <p:sp>
        <p:nvSpPr>
          <p:cNvPr id="59" name="AutoShape 16">
            <a:extLst>
              <a:ext uri="{FF2B5EF4-FFF2-40B4-BE49-F238E27FC236}">
                <a16:creationId xmlns:a16="http://schemas.microsoft.com/office/drawing/2014/main" id="{14CCB853-E15C-4B5F-963D-7DC37E995EA6}"/>
              </a:ext>
            </a:extLst>
          </p:cNvPr>
          <p:cNvSpPr/>
          <p:nvPr/>
        </p:nvSpPr>
        <p:spPr>
          <a:xfrm>
            <a:off x="6477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" name="AutoShape 17">
            <a:extLst>
              <a:ext uri="{FF2B5EF4-FFF2-40B4-BE49-F238E27FC236}">
                <a16:creationId xmlns:a16="http://schemas.microsoft.com/office/drawing/2014/main" id="{C09FEC6C-0055-4AD6-9B15-AE0F9E3F8E08}"/>
              </a:ext>
            </a:extLst>
          </p:cNvPr>
          <p:cNvSpPr/>
          <p:nvPr/>
        </p:nvSpPr>
        <p:spPr>
          <a:xfrm>
            <a:off x="6667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挂载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XRRayInteractor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61" name="Connector 18">
            <a:extLst>
              <a:ext uri="{FF2B5EF4-FFF2-40B4-BE49-F238E27FC236}">
                <a16:creationId xmlns:a16="http://schemas.microsoft.com/office/drawing/2014/main" id="{3DFD2F95-88A0-4F13-921F-6BE33F528BA7}"/>
              </a:ext>
            </a:extLst>
          </p:cNvPr>
          <p:cNvCxnSpPr/>
          <p:nvPr/>
        </p:nvCxnSpPr>
        <p:spPr>
          <a:xfrm rot="-9291">
            <a:off x="6667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19">
            <a:extLst>
              <a:ext uri="{FF2B5EF4-FFF2-40B4-BE49-F238E27FC236}">
                <a16:creationId xmlns:a16="http://schemas.microsoft.com/office/drawing/2014/main" id="{027974FA-F800-48FE-8BCE-E48B778D265E}"/>
              </a:ext>
            </a:extLst>
          </p:cNvPr>
          <p:cNvSpPr/>
          <p:nvPr/>
        </p:nvSpPr>
        <p:spPr>
          <a:xfrm>
            <a:off x="6667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在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Origin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的左右手控制器上挂载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XRRayInteractor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组件，让手柄向前发射射线，用于检测前方物体和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UI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元素。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826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98548" y="-70312"/>
            <a:ext cx="10193811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制作流程：逻辑代码编写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355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110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1C98FC61-222F-4E54-88CA-C2EA5B53A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6526" y="0"/>
            <a:ext cx="72189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场景流程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BootScene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（根场景）</a:t>
            </a: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 </a:t>
            </a:r>
            <a:endParaRPr lang="en-US" sz="1600" b="1" dirty="0">
              <a:solidFill>
                <a:srgbClr val="CC0000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启动加载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BootLoader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自动跳转至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开始菜单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6" name="Connector 6"/>
          <p:cNvCxnSpPr/>
          <p:nvPr/>
        </p:nvCxnSpPr>
        <p:spPr>
          <a:xfrm rot="-9291">
            <a:off x="952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存放全局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Don’t Destroy Onload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管理器比如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Audio Manager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、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Scene Changer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，防止重复生成</a:t>
            </a:r>
            <a:endParaRPr lang="zh-CN" alt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Scene2_city_v2（战斗场景）</a:t>
            </a:r>
            <a:endParaRPr lang="en-US" sz="1100" dirty="0"/>
          </a:p>
          <a:p>
            <a:pPr algn="l"/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战斗结束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→ 结束场景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9291">
            <a:off x="952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玩家在城墙上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面对大军，用弩箭射击防守、与冲上城墙的敌军厮杀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67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GameEnd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（结束场景）</a:t>
            </a:r>
            <a:endParaRPr lang="en-US" sz="1100" dirty="0"/>
          </a:p>
          <a:p>
            <a:pPr algn="l"/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结算场景，文字滚动展示结局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67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显示历史描述，加深玩家对历史印象；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点击返回主菜单，可重新开始战斗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77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67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GameStartMenu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（开始菜单场景）</a:t>
            </a:r>
            <a:endParaRPr lang="en-US" altLang="zh-CN" sz="1600" b="1" dirty="0">
              <a:solidFill>
                <a:srgbClr val="CC0000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开始菜单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→ 进入战斗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退出</a:t>
            </a:r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667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67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巨大标题营造宏伟感，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3D UI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界面让玩家进入、退出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战斗流程：进入场景后自动展开的攻防战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08000" y="161925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800" b="1" dirty="0">
                <a:solidFill>
                  <a:srgbClr val="CC0000"/>
                </a:solidFill>
                <a:latin typeface="Microsoft YaHei"/>
                <a:ea typeface="Microsoft YaHei"/>
              </a:rPr>
              <a:t>▌ </a:t>
            </a:r>
            <a:r>
              <a:rPr sz="18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战斗时序：进入场景后自动展开的攻防战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317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⚔️ 敌军冲锋 </a:t>
            </a:r>
            <a:endParaRPr lang="zh-CN" alt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69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敌军骑兵、攻城梯一齐前进，玩家射箭阻拦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1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317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🏹 箭雨压制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50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0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敌军后方火力支援，漫天箭雨射向城墙，玩家躲避箭矢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17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🛡️ </a:t>
            </a: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近身搏斗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831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1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敌军死士在攻城梯搭完后冲上城墙，玩家弃弩拿剑开始厮杀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508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多路步兵方阵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骑兵冲锋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精英死士翻墙</a:t>
            </a:r>
            <a:endParaRPr lang="zh-CN" alt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223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24" name="AutoShape 24"/>
          <p:cNvSpPr/>
          <p:nvPr/>
        </p:nvSpPr>
        <p:spPr>
          <a:xfrm>
            <a:off x="6350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每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15±3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秒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200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支箭雨</a:t>
            </a:r>
            <a:endParaRPr lang="en-US" sz="11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742A2D6-8A3F-4013-A06F-A69E60D605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817" y="261257"/>
            <a:ext cx="4542287" cy="24565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敌军系统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三类</a:t>
            </a: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敌人协同进攻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58280"/>
            <a:ext cx="3378200" cy="4899719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5999" y="2186881"/>
            <a:ext cx="31750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</a:rPr>
              <a:t>攻城梯方阵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63857" y="2449396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攻城梯方阵从多个出兵点同时向城墙推进，抵达城墙后开始架设云梯，梯子在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2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秒内从平放旋转竖起，为后续死士翻墙提供路径。</a:t>
            </a:r>
            <a:endParaRPr lang="zh-CN" alt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94200" y="1958280"/>
            <a:ext cx="3378200" cy="4848303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8970" y="2186881"/>
            <a:ext cx="287023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8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骑兵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25248" y="2431124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骑兵冲出，目标直指城门。开局立即派出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100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匹骑兵发动第一轮冲锋，之后每 </a:t>
            </a:r>
            <a:r>
              <a:rPr lang="en-US" altLang="zh-CN" sz="1300" dirty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秒补充 </a:t>
            </a:r>
            <a:r>
              <a:rPr lang="en-US" altLang="zh-CN" sz="1300" dirty="0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匹，场上骑兵上限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150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匹。当玩家射杀敌人触发压制效果时，会拖慢推进速度，为城门争取喘息时间。</a:t>
            </a:r>
            <a:endParaRPr lang="zh-CN" alt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026400" y="1958281"/>
            <a:ext cx="3378200" cy="4848302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80399" y="2186881"/>
            <a:ext cx="30367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</a:rPr>
              <a:t>精英死士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91671" y="2466589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死士在攻城梯方阵中跟随推进，当某一路步兵架好云梯后，沿梯子向上攀爬，翻过城墙边缘后落地，寻路追逐玩家并近身格斗，是整场战斗的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倒计时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式威胁。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52500" y="6374784"/>
            <a:ext cx="10261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23FD376-440D-4B7B-85E4-8AB904AD5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08" y="4158475"/>
            <a:ext cx="2449755" cy="225410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3D9182D-49A9-4A1E-8AA8-856C6EC7C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123" y="4134162"/>
            <a:ext cx="2449754" cy="227289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202511B-774F-4F83-81F3-D88F38316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18" y="4134162"/>
            <a:ext cx="2894611" cy="22979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玩家射击、近身搏斗</a:t>
            </a:r>
            <a:endParaRPr lang="en-US" sz="1100" dirty="0"/>
          </a:p>
        </p:txBody>
      </p:sp>
      <p:cxnSp>
        <p:nvCxnSpPr>
          <p:cNvPr id="28" name="Connector 4">
            <a:extLst>
              <a:ext uri="{FF2B5EF4-FFF2-40B4-BE49-F238E27FC236}">
                <a16:creationId xmlns:a16="http://schemas.microsoft.com/office/drawing/2014/main" id="{CA29867E-1E48-4990-93D8-3074982F44AD}"/>
              </a:ext>
            </a:extLst>
          </p:cNvPr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5">
            <a:extLst>
              <a:ext uri="{FF2B5EF4-FFF2-40B4-BE49-F238E27FC236}">
                <a16:creationId xmlns:a16="http://schemas.microsoft.com/office/drawing/2014/main" id="{300528C6-538D-41EC-B7D9-9C0DC4318CEE}"/>
              </a:ext>
            </a:extLst>
          </p:cNvPr>
          <p:cNvSpPr/>
          <p:nvPr/>
        </p:nvSpPr>
        <p:spPr>
          <a:xfrm>
            <a:off x="762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</a:t>
            </a:r>
            <a:r>
              <a:rPr lang="zh-CN" altLang="en-US" sz="22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弩箭射击</a:t>
            </a:r>
            <a:r>
              <a:rPr lang="en-US" altLang="zh-CN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远程压制</a:t>
            </a:r>
            <a:endParaRPr lang="en-US" sz="1100" dirty="0"/>
          </a:p>
        </p:txBody>
      </p:sp>
      <p:cxnSp>
        <p:nvCxnSpPr>
          <p:cNvPr id="30" name="Connector 6">
            <a:extLst>
              <a:ext uri="{FF2B5EF4-FFF2-40B4-BE49-F238E27FC236}">
                <a16:creationId xmlns:a16="http://schemas.microsoft.com/office/drawing/2014/main" id="{AF288B34-C4F3-479D-B9C8-9984D3AFE57B}"/>
              </a:ext>
            </a:extLst>
          </p:cNvPr>
          <p:cNvCxnSpPr/>
          <p:nvPr/>
        </p:nvCxnSpPr>
        <p:spPr>
          <a:xfrm rot="-8814">
            <a:off x="762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7">
            <a:extLst>
              <a:ext uri="{FF2B5EF4-FFF2-40B4-BE49-F238E27FC236}">
                <a16:creationId xmlns:a16="http://schemas.microsoft.com/office/drawing/2014/main" id="{BEE26D26-DCC1-4E7D-88CC-EBF1D3E6791A}"/>
              </a:ext>
            </a:extLst>
          </p:cNvPr>
          <p:cNvSpPr/>
          <p:nvPr/>
        </p:nvSpPr>
        <p:spPr>
          <a:xfrm>
            <a:off x="762000" y="3175000"/>
            <a:ext cx="4953000" cy="2641622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D2006160-6AFD-4C49-96A1-45A17DB30630}"/>
              </a:ext>
            </a:extLst>
          </p:cNvPr>
          <p:cNvSpPr/>
          <p:nvPr/>
        </p:nvSpPr>
        <p:spPr>
          <a:xfrm>
            <a:off x="952500" y="412115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</a:pP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玩家通过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VR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手柄扣动扳机，箭矢从弩口位置以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en-US" altLang="zh-CN" sz="1300" b="0" i="0" u="none" strike="noStrike" dirty="0" err="1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shootForce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= 2000`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的瞬时物理力向前射出。箭矢命中敌人时触发全局阻尼压制效果，箭矢伴随破空音效挂载在箭矢上跟随飞行，营造箭从耳边呼啸而过的空间感。箭矢飞行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秒后自动销毁，不在场景中堆积。</a:t>
            </a:r>
            <a:endParaRPr lang="en-US" sz="1300" b="0" i="0" u="none" strike="noStrike" dirty="0">
              <a:solidFill>
                <a:schemeClr val="bg1">
                  <a:alpha val="8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4D0E44-EBEC-4EA0-9E66-A8C01184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903" y="284513"/>
            <a:ext cx="3003241" cy="2426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334322-A459-4951-9AD7-EC4ACE784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951" y="3163111"/>
            <a:ext cx="3844549" cy="3564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玩家射击、近身搏斗</a:t>
            </a:r>
            <a:endParaRPr lang="en-US" sz="1100" dirty="0"/>
          </a:p>
        </p:txBody>
      </p:sp>
      <p:cxnSp>
        <p:nvCxnSpPr>
          <p:cNvPr id="28" name="Connector 4">
            <a:extLst>
              <a:ext uri="{FF2B5EF4-FFF2-40B4-BE49-F238E27FC236}">
                <a16:creationId xmlns:a16="http://schemas.microsoft.com/office/drawing/2014/main" id="{CA29867E-1E48-4990-93D8-3074982F44AD}"/>
              </a:ext>
            </a:extLst>
          </p:cNvPr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11">
            <a:extLst>
              <a:ext uri="{FF2B5EF4-FFF2-40B4-BE49-F238E27FC236}">
                <a16:creationId xmlns:a16="http://schemas.microsoft.com/office/drawing/2014/main" id="{B59F959F-261C-4938-9483-08E94D66CFDA}"/>
              </a:ext>
            </a:extLst>
          </p:cNvPr>
          <p:cNvSpPr/>
          <p:nvPr/>
        </p:nvSpPr>
        <p:spPr>
          <a:xfrm>
            <a:off x="6477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拔刀迎战 </a:t>
            </a:r>
            <a:r>
              <a:rPr lang="en-US" altLang="zh-CN" sz="22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近身搏斗</a:t>
            </a:r>
            <a:endParaRPr lang="en-US" sz="1100" dirty="0"/>
          </a:p>
        </p:txBody>
      </p:sp>
      <p:cxnSp>
        <p:nvCxnSpPr>
          <p:cNvPr id="36" name="Connector 12">
            <a:extLst>
              <a:ext uri="{FF2B5EF4-FFF2-40B4-BE49-F238E27FC236}">
                <a16:creationId xmlns:a16="http://schemas.microsoft.com/office/drawing/2014/main" id="{0930814B-F1D6-4AA5-A913-39ECDFEC894A}"/>
              </a:ext>
            </a:extLst>
          </p:cNvPr>
          <p:cNvCxnSpPr/>
          <p:nvPr/>
        </p:nvCxnSpPr>
        <p:spPr>
          <a:xfrm rot="-8814">
            <a:off x="6477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3">
            <a:extLst>
              <a:ext uri="{FF2B5EF4-FFF2-40B4-BE49-F238E27FC236}">
                <a16:creationId xmlns:a16="http://schemas.microsoft.com/office/drawing/2014/main" id="{B565FA77-E441-4DC5-AAA0-E34F6763E8D8}"/>
              </a:ext>
            </a:extLst>
          </p:cNvPr>
          <p:cNvSpPr/>
          <p:nvPr/>
        </p:nvSpPr>
        <p:spPr>
          <a:xfrm>
            <a:off x="6477000" y="3175000"/>
            <a:ext cx="4953000" cy="2616222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7FA4B826-24B4-458E-BFCA-D42D6DDA29D5}"/>
              </a:ext>
            </a:extLst>
          </p:cNvPr>
          <p:cNvSpPr/>
          <p:nvPr/>
        </p:nvSpPr>
        <p:spPr>
          <a:xfrm>
            <a:off x="6667500" y="3224154"/>
            <a:ext cx="4572000" cy="2278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</a:pPr>
            <a:r>
              <a:rPr sz="1300" dirty="0" err="1">
                <a:solidFill>
                  <a:schemeClr val="bg1">
                    <a:alpha val="80000"/>
                  </a:schemeClr>
                </a:solidFill>
                <a:latin typeface="Noto Sans SC"/>
              </a:rPr>
              <a:t>当死士翻过城墙进入追逐状态，玩家需要立刻弃弩拔刀。死士进入攻击范围后触发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近战：</a:t>
            </a: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死士格挡：玩家武器砍到死士武器且死士处于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Attack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态，死士进入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Stagger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，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1.5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秒内无法行动。</a:t>
            </a: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死士有效攻击：死士武器碰到玩家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→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扣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25 HP +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玩家屏幕闪红。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HP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归零立即战败结算，转场至结算场景。</a:t>
            </a: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endParaRPr lang="zh-CN" altLang="en-US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玩家有效攻击：玩家武器砍到死士身体要害，死士扣血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+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进入 </a:t>
            </a:r>
            <a:r>
              <a:rPr lang="en-US" altLang="zh-CN" sz="1300" dirty="0" err="1">
                <a:solidFill>
                  <a:schemeClr val="bg1">
                    <a:alpha val="80000"/>
                  </a:schemeClr>
                </a:solidFill>
                <a:latin typeface="Noto Sans SC"/>
              </a:rPr>
              <a:t>HitBack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。</a:t>
            </a:r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9235F84B-B080-44DC-8185-AA707A557B71}"/>
              </a:ext>
            </a:extLst>
          </p:cNvPr>
          <p:cNvSpPr/>
          <p:nvPr/>
        </p:nvSpPr>
        <p:spPr>
          <a:xfrm>
            <a:off x="438150" y="5539839"/>
            <a:ext cx="5461000" cy="1205345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VR 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渲染是双目立体画面，常规的</a:t>
            </a:r>
            <a:r>
              <a:rPr lang="en-US" altLang="zh-CN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ScreenOverlay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无法正确覆盖两只眼睛的视野，会出现一只眼有红幕、另一只眼没有的问题。项目的解决方案是参考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PICO SDK 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内置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PXR_ScreenFade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的思路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做一个面向内的红色球体，把摄像机包在里面。</a:t>
            </a:r>
          </a:p>
          <a:p>
            <a:pPr algn="ctr">
              <a:defRPr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E330A0-F29E-431C-A1E6-CDEFD19BE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90" y="1542088"/>
            <a:ext cx="5682058" cy="381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技术实现：Navmesh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寻路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3BD36647-3A0A-470C-9230-34B657286096}"/>
              </a:ext>
            </a:extLst>
          </p:cNvPr>
          <p:cNvSpPr/>
          <p:nvPr/>
        </p:nvSpPr>
        <p:spPr>
          <a:xfrm>
            <a:off x="762000" y="2286000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C4A82E54-6658-4141-A122-1F35B403F12C}"/>
              </a:ext>
            </a:extLst>
          </p:cNvPr>
          <p:cNvSpPr/>
          <p:nvPr/>
        </p:nvSpPr>
        <p:spPr>
          <a:xfrm>
            <a:off x="762000" y="2286000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8">
            <a:extLst>
              <a:ext uri="{FF2B5EF4-FFF2-40B4-BE49-F238E27FC236}">
                <a16:creationId xmlns:a16="http://schemas.microsoft.com/office/drawing/2014/main" id="{8678C715-B7F8-4871-97E2-42EB11A35066}"/>
              </a:ext>
            </a:extLst>
          </p:cNvPr>
          <p:cNvSpPr/>
          <p:nvPr/>
        </p:nvSpPr>
        <p:spPr>
          <a:xfrm>
            <a:off x="934357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生成寻路网格</a:t>
            </a:r>
            <a:endParaRPr lang="en-US" sz="1100" dirty="0"/>
          </a:p>
        </p:txBody>
      </p: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154FB518-AACB-4EBC-944B-47FCE4D39A5A}"/>
              </a:ext>
            </a:extLst>
          </p:cNvPr>
          <p:cNvCxnSpPr>
            <a:cxnSpLocks/>
          </p:cNvCxnSpPr>
          <p:nvPr/>
        </p:nvCxnSpPr>
        <p:spPr>
          <a:xfrm>
            <a:off x="1016000" y="3302000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10">
            <a:extLst>
              <a:ext uri="{FF2B5EF4-FFF2-40B4-BE49-F238E27FC236}">
                <a16:creationId xmlns:a16="http://schemas.microsoft.com/office/drawing/2014/main" id="{08B117D9-B273-46DF-B174-74408903F8DF}"/>
              </a:ext>
            </a:extLst>
          </p:cNvPr>
          <p:cNvSpPr/>
          <p:nvPr/>
        </p:nvSpPr>
        <p:spPr>
          <a:xfrm>
            <a:off x="952500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导入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Navigation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包，新建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Humanoid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人型类别，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调整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 Radius（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决定角色能通过的最小通道宽度）和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Step Height（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可跨过的台阶高度）等参数，点击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Bake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生成寻路网格。</a:t>
            </a:r>
            <a:endParaRPr lang="en-US" sz="1100" dirty="0"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93D5BFAF-5C79-44D1-82F2-38859C0BD66D}"/>
              </a:ext>
            </a:extLst>
          </p:cNvPr>
          <p:cNvSpPr/>
          <p:nvPr/>
        </p:nvSpPr>
        <p:spPr>
          <a:xfrm>
            <a:off x="4690773" y="2272144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6">
            <a:extLst>
              <a:ext uri="{FF2B5EF4-FFF2-40B4-BE49-F238E27FC236}">
                <a16:creationId xmlns:a16="http://schemas.microsoft.com/office/drawing/2014/main" id="{3B23DF9A-84A8-4C84-85FF-AD64C6FB7C3B}"/>
              </a:ext>
            </a:extLst>
          </p:cNvPr>
          <p:cNvSpPr/>
          <p:nvPr/>
        </p:nvSpPr>
        <p:spPr>
          <a:xfrm>
            <a:off x="4690773" y="2272144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2CBA9C7C-15C8-4F68-8C39-4B93425EF35B}"/>
              </a:ext>
            </a:extLst>
          </p:cNvPr>
          <p:cNvSpPr/>
          <p:nvPr/>
        </p:nvSpPr>
        <p:spPr>
          <a:xfrm>
            <a:off x="4863130" y="2551544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挂载 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Agent</a:t>
            </a:r>
            <a:endParaRPr lang="en-US" sz="1100" dirty="0"/>
          </a:p>
        </p:txBody>
      </p:sp>
      <p:cxnSp>
        <p:nvCxnSpPr>
          <p:cNvPr id="50" name="Connector 9">
            <a:extLst>
              <a:ext uri="{FF2B5EF4-FFF2-40B4-BE49-F238E27FC236}">
                <a16:creationId xmlns:a16="http://schemas.microsoft.com/office/drawing/2014/main" id="{8ACB051A-8608-4D52-8C26-D920DF548547}"/>
              </a:ext>
            </a:extLst>
          </p:cNvPr>
          <p:cNvCxnSpPr>
            <a:cxnSpLocks/>
          </p:cNvCxnSpPr>
          <p:nvPr/>
        </p:nvCxnSpPr>
        <p:spPr>
          <a:xfrm>
            <a:off x="4829318" y="3083954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" name="AutoShape 10">
            <a:extLst>
              <a:ext uri="{FF2B5EF4-FFF2-40B4-BE49-F238E27FC236}">
                <a16:creationId xmlns:a16="http://schemas.microsoft.com/office/drawing/2014/main" id="{3D201E1B-007C-4224-94CD-E36B817CC0AF}"/>
              </a:ext>
            </a:extLst>
          </p:cNvPr>
          <p:cNvSpPr/>
          <p:nvPr/>
        </p:nvSpPr>
        <p:spPr>
          <a:xfrm>
            <a:off x="4799343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在需要寻路的单位上添加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NavMeshAgent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组件。关键参数包括 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Speed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（移动速度）、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Acceleration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（加速度，决定起步和停止的快慢）、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Angular Speed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（转向速度）、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Stopping Distance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（距离目标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多远就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停止移动）。运行中调用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agent.SetDestination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传入目标坐标。</a:t>
            </a: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BE69525D-67A7-4AEB-BCEA-F82B1E554179}"/>
              </a:ext>
            </a:extLst>
          </p:cNvPr>
          <p:cNvSpPr/>
          <p:nvPr/>
        </p:nvSpPr>
        <p:spPr>
          <a:xfrm>
            <a:off x="8714529" y="2286000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6">
            <a:extLst>
              <a:ext uri="{FF2B5EF4-FFF2-40B4-BE49-F238E27FC236}">
                <a16:creationId xmlns:a16="http://schemas.microsoft.com/office/drawing/2014/main" id="{EC03F806-C681-4B13-B8A9-400F05B2F426}"/>
              </a:ext>
            </a:extLst>
          </p:cNvPr>
          <p:cNvSpPr/>
          <p:nvPr/>
        </p:nvSpPr>
        <p:spPr>
          <a:xfrm>
            <a:off x="8714529" y="2286000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8">
            <a:extLst>
              <a:ext uri="{FF2B5EF4-FFF2-40B4-BE49-F238E27FC236}">
                <a16:creationId xmlns:a16="http://schemas.microsoft.com/office/drawing/2014/main" id="{17B3880F-D9B6-41B8-BD15-E576C241AEC9}"/>
              </a:ext>
            </a:extLst>
          </p:cNvPr>
          <p:cNvSpPr/>
          <p:nvPr/>
        </p:nvSpPr>
        <p:spPr>
          <a:xfrm>
            <a:off x="8886886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不同兵种使用</a:t>
            </a:r>
            <a:endParaRPr lang="en-US" sz="1100" dirty="0"/>
          </a:p>
        </p:txBody>
      </p:sp>
      <p:cxnSp>
        <p:nvCxnSpPr>
          <p:cNvPr id="55" name="Connector 9">
            <a:extLst>
              <a:ext uri="{FF2B5EF4-FFF2-40B4-BE49-F238E27FC236}">
                <a16:creationId xmlns:a16="http://schemas.microsoft.com/office/drawing/2014/main" id="{1BA4540E-C9C1-4729-B8F7-BC10325F20C1}"/>
              </a:ext>
            </a:extLst>
          </p:cNvPr>
          <p:cNvCxnSpPr>
            <a:cxnSpLocks/>
          </p:cNvCxnSpPr>
          <p:nvPr/>
        </p:nvCxnSpPr>
        <p:spPr>
          <a:xfrm>
            <a:off x="8968529" y="3302000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" name="AutoShape 10">
            <a:extLst>
              <a:ext uri="{FF2B5EF4-FFF2-40B4-BE49-F238E27FC236}">
                <a16:creationId xmlns:a16="http://schemas.microsoft.com/office/drawing/2014/main" id="{CC038DB1-5A63-4574-A753-6694790BC8E5}"/>
              </a:ext>
            </a:extLst>
          </p:cNvPr>
          <p:cNvSpPr/>
          <p:nvPr/>
        </p:nvSpPr>
        <p:spPr>
          <a:xfrm>
            <a:off x="8905029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骑兵使用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NavMeshAgent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从出兵点附近随机采样有效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位置后生成；</a:t>
            </a:r>
            <a:endParaRPr lang="en-US" altLang="zh-CN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死士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跟随攻城梯前进时启用，翻墙攀爬时禁用，翻墙落地后重新启用并设目标为玩家位置进入追逐状态。落地后通过 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Warp()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自动吸附到最近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点，防止悬空无法寻路。</a:t>
            </a:r>
            <a:endParaRPr lang="en-US" altLang="zh-CN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613BEB0E-0E13-43B2-B355-A8CDA6F36BD0}"/>
              </a:ext>
            </a:extLst>
          </p:cNvPr>
          <p:cNvSpPr/>
          <p:nvPr/>
        </p:nvSpPr>
        <p:spPr>
          <a:xfrm>
            <a:off x="3808185" y="3716977"/>
            <a:ext cx="730682" cy="29688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01E7BAF0-8B9F-404D-AA97-D0CA50B9DC3D}"/>
              </a:ext>
            </a:extLst>
          </p:cNvPr>
          <p:cNvSpPr/>
          <p:nvPr/>
        </p:nvSpPr>
        <p:spPr>
          <a:xfrm>
            <a:off x="7814128" y="3720935"/>
            <a:ext cx="730682" cy="29688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C9D91-2C21-4D35-AF3B-C70FBF1E9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813" y="5513619"/>
            <a:ext cx="4294374" cy="1242279"/>
          </a:xfrm>
          <a:prstGeom prst="rect">
            <a:avLst/>
          </a:prstGeom>
        </p:spPr>
      </p:pic>
      <p:cxnSp>
        <p:nvCxnSpPr>
          <p:cNvPr id="23" name="Connector 9">
            <a:extLst>
              <a:ext uri="{FF2B5EF4-FFF2-40B4-BE49-F238E27FC236}">
                <a16:creationId xmlns:a16="http://schemas.microsoft.com/office/drawing/2014/main" id="{C1F326AB-98D8-41C2-BAFA-BFD25E9DE8D4}"/>
              </a:ext>
            </a:extLst>
          </p:cNvPr>
          <p:cNvCxnSpPr>
            <a:cxnSpLocks/>
          </p:cNvCxnSpPr>
          <p:nvPr/>
        </p:nvCxnSpPr>
        <p:spPr>
          <a:xfrm>
            <a:off x="8936779" y="3133766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5014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utoShape 2">
            <a:extLst>
              <a:ext uri="{FF2B5EF4-FFF2-40B4-BE49-F238E27FC236}">
                <a16:creationId xmlns:a16="http://schemas.microsoft.com/office/drawing/2014/main" id="{EAD1CDC4-FDED-4AA3-8482-24F779382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3">
            <a:extLst>
              <a:ext uri="{FF2B5EF4-FFF2-40B4-BE49-F238E27FC236}">
                <a16:creationId xmlns:a16="http://schemas.microsoft.com/office/drawing/2014/main" id="{B7EFCF78-1701-4CEB-BEDB-B0B660A1AE5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</a:t>
            </a:r>
            <a:r>
              <a:rPr 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武器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0" name="AutoShape 4">
            <a:extLst>
              <a:ext uri="{FF2B5EF4-FFF2-40B4-BE49-F238E27FC236}">
                <a16:creationId xmlns:a16="http://schemas.microsoft.com/office/drawing/2014/main" id="{9D7CF765-2EB0-40DA-8BFC-55D1D909FDB4}"/>
              </a:ext>
            </a:extLst>
          </p:cNvPr>
          <p:cNvSpPr/>
          <p:nvPr/>
        </p:nvSpPr>
        <p:spPr>
          <a:xfrm>
            <a:off x="762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9F742DA3-2A75-45A0-AB77-9E446861065E}"/>
              </a:ext>
            </a:extLst>
          </p:cNvPr>
          <p:cNvSpPr/>
          <p:nvPr/>
        </p:nvSpPr>
        <p:spPr>
          <a:xfrm>
            <a:off x="762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743545AD-3C37-455D-8751-1E769F5C1AAA}"/>
              </a:ext>
            </a:extLst>
          </p:cNvPr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</a:t>
            </a:r>
            <a:r>
              <a:rPr lang="zh-CN" alt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箭雨弹道模拟</a:t>
            </a:r>
            <a:endParaRPr lang="en-US" sz="1100" dirty="0"/>
          </a:p>
        </p:txBody>
      </p:sp>
      <p:cxnSp>
        <p:nvCxnSpPr>
          <p:cNvPr id="63" name="Connector 7">
            <a:extLst>
              <a:ext uri="{FF2B5EF4-FFF2-40B4-BE49-F238E27FC236}">
                <a16:creationId xmlns:a16="http://schemas.microsoft.com/office/drawing/2014/main" id="{4F611712-EC16-426A-8363-B87381A66B50}"/>
              </a:ext>
            </a:extLst>
          </p:cNvPr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AutoShape 8">
            <a:extLst>
              <a:ext uri="{FF2B5EF4-FFF2-40B4-BE49-F238E27FC236}">
                <a16:creationId xmlns:a16="http://schemas.microsoft.com/office/drawing/2014/main" id="{3E5E1B89-1032-451E-90F0-CD033BA01407}"/>
              </a:ext>
            </a:extLst>
          </p:cNvPr>
          <p:cNvSpPr/>
          <p:nvPr/>
        </p:nvSpPr>
        <p:spPr>
          <a:xfrm>
            <a:off x="1016000" y="266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以物理规律为基础，实现真实且具有强烈威胁感的箭雨效果，提升战斗沉浸感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0" name="AutoShape 14">
            <a:extLst>
              <a:ext uri="{FF2B5EF4-FFF2-40B4-BE49-F238E27FC236}">
                <a16:creationId xmlns:a16="http://schemas.microsoft.com/office/drawing/2014/main" id="{25B8DB16-C014-46CF-8A71-56812A91E965}"/>
              </a:ext>
            </a:extLst>
          </p:cNvPr>
          <p:cNvSpPr/>
          <p:nvPr/>
        </p:nvSpPr>
        <p:spPr>
          <a:xfrm>
            <a:off x="762000" y="3998273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" name="AutoShape 16">
            <a:extLst>
              <a:ext uri="{FF2B5EF4-FFF2-40B4-BE49-F238E27FC236}">
                <a16:creationId xmlns:a16="http://schemas.microsoft.com/office/drawing/2014/main" id="{CD70E32C-CF65-4AC1-BED2-CDC6052CDA28}"/>
              </a:ext>
            </a:extLst>
          </p:cNvPr>
          <p:cNvSpPr/>
          <p:nvPr/>
        </p:nvSpPr>
        <p:spPr>
          <a:xfrm>
            <a:off x="1397000" y="4150673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弹道</a:t>
            </a:r>
          </a:p>
        </p:txBody>
      </p:sp>
      <p:cxnSp>
        <p:nvCxnSpPr>
          <p:cNvPr id="73" name="Connector 17">
            <a:extLst>
              <a:ext uri="{FF2B5EF4-FFF2-40B4-BE49-F238E27FC236}">
                <a16:creationId xmlns:a16="http://schemas.microsoft.com/office/drawing/2014/main" id="{C69B0234-61DB-44BE-BE29-197288D366F9}"/>
              </a:ext>
            </a:extLst>
          </p:cNvPr>
          <p:cNvCxnSpPr/>
          <p:nvPr/>
        </p:nvCxnSpPr>
        <p:spPr>
          <a:xfrm rot="-20834">
            <a:off x="952519" y="4753923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AutoShape 18">
            <a:extLst>
              <a:ext uri="{FF2B5EF4-FFF2-40B4-BE49-F238E27FC236}">
                <a16:creationId xmlns:a16="http://schemas.microsoft.com/office/drawing/2014/main" id="{50F9B8A8-A61E-46A9-8A55-C6FE4078271D}"/>
              </a:ext>
            </a:extLst>
          </p:cNvPr>
          <p:cNvSpPr/>
          <p:nvPr/>
        </p:nvSpPr>
        <p:spPr>
          <a:xfrm>
            <a:off x="952500" y="4950773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随机城墙上坐标向下射线检测 ，命中确定箭矢的落点。然后在 开火区域内随机采样一个点作为发射起点，固定飞行时间为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1.8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秒，反向解算出初速度、角度</a:t>
            </a:r>
          </a:p>
        </p:txBody>
      </p:sp>
      <p:cxnSp>
        <p:nvCxnSpPr>
          <p:cNvPr id="75" name="Connector 19">
            <a:extLst>
              <a:ext uri="{FF2B5EF4-FFF2-40B4-BE49-F238E27FC236}">
                <a16:creationId xmlns:a16="http://schemas.microsoft.com/office/drawing/2014/main" id="{6D86F6EA-A0C0-4841-A64B-A093498ADD7E}"/>
              </a:ext>
            </a:extLst>
          </p:cNvPr>
          <p:cNvCxnSpPr/>
          <p:nvPr/>
        </p:nvCxnSpPr>
        <p:spPr>
          <a:xfrm rot="5389889">
            <a:off x="41275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" name="AutoShape 20">
            <a:extLst>
              <a:ext uri="{FF2B5EF4-FFF2-40B4-BE49-F238E27FC236}">
                <a16:creationId xmlns:a16="http://schemas.microsoft.com/office/drawing/2014/main" id="{CD1D7864-4D26-40C0-9131-AAAA261233AB}"/>
              </a:ext>
            </a:extLst>
          </p:cNvPr>
          <p:cNvSpPr/>
          <p:nvPr/>
        </p:nvSpPr>
        <p:spPr>
          <a:xfrm>
            <a:off x="6477000" y="1904999"/>
            <a:ext cx="4953000" cy="1968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21">
            <a:extLst>
              <a:ext uri="{FF2B5EF4-FFF2-40B4-BE49-F238E27FC236}">
                <a16:creationId xmlns:a16="http://schemas.microsoft.com/office/drawing/2014/main" id="{51FC5D57-ADE4-4870-BA4A-88DEE065E14F}"/>
              </a:ext>
            </a:extLst>
          </p:cNvPr>
          <p:cNvSpPr/>
          <p:nvPr/>
        </p:nvSpPr>
        <p:spPr>
          <a:xfrm>
            <a:off x="6667500" y="2032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</a:t>
            </a:r>
            <a:r>
              <a:rPr lang="zh-CN" altLang="en-US" sz="20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近战武器实现</a:t>
            </a:r>
            <a:endParaRPr lang="zh-CN" altLang="en-US" sz="2000" b="1" i="0" u="none" strike="noStrike" dirty="0">
              <a:solidFill>
                <a:srgbClr val="CC000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78" name="Connector 22">
            <a:extLst>
              <a:ext uri="{FF2B5EF4-FFF2-40B4-BE49-F238E27FC236}">
                <a16:creationId xmlns:a16="http://schemas.microsoft.com/office/drawing/2014/main" id="{C2AEE54C-35D3-4166-8217-A6769A50E9EE}"/>
              </a:ext>
            </a:extLst>
          </p:cNvPr>
          <p:cNvCxnSpPr/>
          <p:nvPr/>
        </p:nvCxnSpPr>
        <p:spPr>
          <a:xfrm rot="-9549">
            <a:off x="66675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AutoShape 23">
            <a:extLst>
              <a:ext uri="{FF2B5EF4-FFF2-40B4-BE49-F238E27FC236}">
                <a16:creationId xmlns:a16="http://schemas.microsoft.com/office/drawing/2014/main" id="{6D15514C-3D4C-4A2B-B65E-211071D16131}"/>
              </a:ext>
            </a:extLst>
          </p:cNvPr>
          <p:cNvSpPr/>
          <p:nvPr/>
        </p:nvSpPr>
        <p:spPr>
          <a:xfrm>
            <a:off x="66675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VR 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中玩家的刀由手柄物理追踪驱动，在每帧 </a:t>
            </a: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Update 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中通过位置差除以帧时间计算武器实时速度，低于 </a:t>
            </a: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1.5 m/s`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的慢速运动直接忽略，防止手部自然微颤造成误判。</a:t>
            </a:r>
          </a:p>
        </p:txBody>
      </p:sp>
      <p:sp>
        <p:nvSpPr>
          <p:cNvPr id="84" name="AutoShape 28">
            <a:extLst>
              <a:ext uri="{FF2B5EF4-FFF2-40B4-BE49-F238E27FC236}">
                <a16:creationId xmlns:a16="http://schemas.microsoft.com/office/drawing/2014/main" id="{AA7FB04B-AE94-46EA-8FAB-5C187AD1CDAE}"/>
              </a:ext>
            </a:extLst>
          </p:cNvPr>
          <p:cNvSpPr/>
          <p:nvPr/>
        </p:nvSpPr>
        <p:spPr>
          <a:xfrm>
            <a:off x="6477000" y="4064000"/>
            <a:ext cx="4953000" cy="1659905"/>
          </a:xfrm>
          <a:prstGeom prst="roundRect">
            <a:avLst>
              <a:gd name="adj" fmla="val 0"/>
            </a:avLst>
          </a:prstGeom>
          <a:solidFill>
            <a:srgbClr val="CC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" name="AutoShape 29">
            <a:extLst>
              <a:ext uri="{FF2B5EF4-FFF2-40B4-BE49-F238E27FC236}">
                <a16:creationId xmlns:a16="http://schemas.microsoft.com/office/drawing/2014/main" id="{21348C83-DB4B-45C4-80EB-21241B32E930}"/>
              </a:ext>
            </a:extLst>
          </p:cNvPr>
          <p:cNvSpPr/>
          <p:nvPr/>
        </p:nvSpPr>
        <p:spPr>
          <a:xfrm>
            <a:off x="6604000" y="4641378"/>
            <a:ext cx="4699000" cy="50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碰撞检测组件通过归属设置区分敌我武器</a:t>
            </a:r>
            <a:r>
              <a:rPr lang="en-US" altLang="zh-CN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——</a:t>
            </a:r>
            <a:r>
              <a:rPr lang="zh-CN" altLang="en-US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设为玩家时，命中敌人身体算有效攻击、命中敌人武器算格挡；设为敌人时，碰到玩家即造成伤害。</a:t>
            </a:r>
            <a:endParaRPr lang="en-US" sz="1300" dirty="0">
              <a:solidFill>
                <a:srgbClr val="FFFFFF">
                  <a:alpha val="80000"/>
                </a:srgbClr>
              </a:solidFill>
              <a:latin typeface="Noto Sans SC"/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2F9F7B51-1804-4BD7-839F-469B0A637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251" y="4197597"/>
            <a:ext cx="355600" cy="3556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8BBF957-5D00-4A99-9B7D-A563F9CE4E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903" b="19494"/>
          <a:stretch/>
        </p:blipFill>
        <p:spPr>
          <a:xfrm>
            <a:off x="3352800" y="4493217"/>
            <a:ext cx="2906817" cy="1060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7">
            <a:extLst>
              <a:ext uri="{FF2B5EF4-FFF2-40B4-BE49-F238E27FC236}">
                <a16:creationId xmlns:a16="http://schemas.microsoft.com/office/drawing/2014/main" id="{C8405C22-6653-4BD6-B5E6-D895F94D8D73}"/>
              </a:ext>
            </a:extLst>
          </p:cNvPr>
          <p:cNvSpPr/>
          <p:nvPr/>
        </p:nvSpPr>
        <p:spPr>
          <a:xfrm>
            <a:off x="5842000" y="2032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3965E0FA-3A79-4C54-98F2-9F037C1F50FE}"/>
              </a:ext>
            </a:extLst>
          </p:cNvPr>
          <p:cNvSpPr/>
          <p:nvPr/>
        </p:nvSpPr>
        <p:spPr>
          <a:xfrm>
            <a:off x="5842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10">
            <a:extLst>
              <a:ext uri="{FF2B5EF4-FFF2-40B4-BE49-F238E27FC236}">
                <a16:creationId xmlns:a16="http://schemas.microsoft.com/office/drawing/2014/main" id="{690BBF64-C4C3-4B6B-B389-E92992C00912}"/>
              </a:ext>
            </a:extLst>
          </p:cNvPr>
          <p:cNvSpPr/>
          <p:nvPr/>
        </p:nvSpPr>
        <p:spPr>
          <a:xfrm>
            <a:off x="6043548" y="2133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水墨透明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写意战场的核心基底</a:t>
            </a:r>
            <a:endParaRPr lang="en-US" sz="1100" dirty="0"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1C680F17-B3EF-4637-90B8-097D59796146}"/>
              </a:ext>
            </a:extLst>
          </p:cNvPr>
          <p:cNvSpPr/>
          <p:nvPr/>
        </p:nvSpPr>
        <p:spPr>
          <a:xfrm>
            <a:off x="6032500" y="2667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使用白底黑墨贴图作为输入，通过红色通道反相计算透明度，白色区域变为透明、黑色墨迹保留为不透明。配合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Alpha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混合模式渲染，使场景中的城墙和房屋呈现水墨笔触的透明质感。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0F96BF-490B-464C-9E83-91EA01570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177" y="3201505"/>
            <a:ext cx="4156748" cy="22685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96FAE8-A6EE-4D50-84E6-250FE0E90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94" y="1417462"/>
            <a:ext cx="2936757" cy="25625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059B48-1AF4-45FA-AE04-DFCC75AB8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548" y="3418342"/>
            <a:ext cx="5175250" cy="33874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6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敌方单位</a:t>
            </a:r>
            <a:r>
              <a:rPr lang="zh-CN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模型边缘带有黑色手绘风格轮廓线</a:t>
            </a: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12">
            <a:extLst>
              <a:ext uri="{FF2B5EF4-FFF2-40B4-BE49-F238E27FC236}">
                <a16:creationId xmlns:a16="http://schemas.microsoft.com/office/drawing/2014/main" id="{28A11B83-A5BF-4BA2-AB7C-EFC0E8358960}"/>
              </a:ext>
            </a:extLst>
          </p:cNvPr>
          <p:cNvSpPr/>
          <p:nvPr/>
        </p:nvSpPr>
        <p:spPr>
          <a:xfrm>
            <a:off x="5842000" y="3536868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FA21C25C-4B9F-4EA5-B8CF-43C980BA3BB4}"/>
              </a:ext>
            </a:extLst>
          </p:cNvPr>
          <p:cNvSpPr/>
          <p:nvPr/>
        </p:nvSpPr>
        <p:spPr>
          <a:xfrm>
            <a:off x="5842000" y="355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15">
            <a:extLst>
              <a:ext uri="{FF2B5EF4-FFF2-40B4-BE49-F238E27FC236}">
                <a16:creationId xmlns:a16="http://schemas.microsoft.com/office/drawing/2014/main" id="{810B677C-B06F-4A7A-AF76-1A0924B7E3E1}"/>
              </a:ext>
            </a:extLst>
          </p:cNvPr>
          <p:cNvSpPr/>
          <p:nvPr/>
        </p:nvSpPr>
        <p:spPr>
          <a:xfrm>
            <a:off x="6013861" y="3657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法线描边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"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手绘感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"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轮廓</a:t>
            </a:r>
            <a:endParaRPr lang="en-US" sz="1100" dirty="0"/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95CFB7A7-19C2-4B18-8587-992214BB6BF2}"/>
              </a:ext>
            </a:extLst>
          </p:cNvPr>
          <p:cNvSpPr/>
          <p:nvPr/>
        </p:nvSpPr>
        <p:spPr>
          <a:xfrm>
            <a:off x="6032500" y="4191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通过法线向量检测模型表面的转折边缘，经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Step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节点做硬边裁切，再与基础颜色进行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Lerp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混合，为模型添加手绘风格的黑色轮廓线。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90CA1C-D201-46DE-94A9-4AF17AEF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70" y="1742628"/>
            <a:ext cx="4054291" cy="34795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8F57CC-B5EC-4231-94ED-A82CBE990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031" y="436901"/>
            <a:ext cx="6096000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7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6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旗帜随风飘动</a:t>
            </a:r>
            <a:endParaRPr lang="en-US" altLang="zh-CN" sz="1400" b="0" i="0" u="none" strike="noStrike" dirty="0">
              <a:solidFill>
                <a:srgbClr val="FFFFFF">
                  <a:alpha val="80000"/>
                </a:srgbClr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顶点动画：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sin(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风速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+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位置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频率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) 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振幅</a:t>
            </a:r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17">
            <a:extLst>
              <a:ext uri="{FF2B5EF4-FFF2-40B4-BE49-F238E27FC236}">
                <a16:creationId xmlns:a16="http://schemas.microsoft.com/office/drawing/2014/main" id="{147E1614-C730-4251-9DE3-439052828365}"/>
              </a:ext>
            </a:extLst>
          </p:cNvPr>
          <p:cNvSpPr/>
          <p:nvPr/>
        </p:nvSpPr>
        <p:spPr>
          <a:xfrm>
            <a:off x="5842000" y="5080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71DDFD70-94E2-41DB-BFE3-44F58F8485D7}"/>
              </a:ext>
            </a:extLst>
          </p:cNvPr>
          <p:cNvSpPr/>
          <p:nvPr/>
        </p:nvSpPr>
        <p:spPr>
          <a:xfrm>
            <a:off x="5842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2FB356B2-B3AC-4C95-BF5B-9962BB6177AE}"/>
              </a:ext>
            </a:extLst>
          </p:cNvPr>
          <p:cNvSpPr/>
          <p:nvPr/>
        </p:nvSpPr>
        <p:spPr>
          <a:xfrm>
            <a:off x="6025738" y="5181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旗帜飘动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提升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战场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真实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</a:t>
            </a:r>
            <a:endParaRPr lang="en-US" sz="1100" dirty="0"/>
          </a:p>
        </p:txBody>
      </p:sp>
      <p:sp>
        <p:nvSpPr>
          <p:cNvPr id="42" name="AutoShape 21">
            <a:extLst>
              <a:ext uri="{FF2B5EF4-FFF2-40B4-BE49-F238E27FC236}">
                <a16:creationId xmlns:a16="http://schemas.microsoft.com/office/drawing/2014/main" id="{7C2B48B4-5835-4696-915D-680A903D17EC}"/>
              </a:ext>
            </a:extLst>
          </p:cNvPr>
          <p:cNvSpPr/>
          <p:nvPr/>
        </p:nvSpPr>
        <p:spPr>
          <a:xfrm>
            <a:off x="6032500" y="5715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顶点动画驱动的旗帜飘动效果。旗帜表面呈波浪形起伏，沿法线方向推动顶点产生布料飘动感。水墨旗帜版本额外结合了红色通道反相透明度，带有“漢”字样，在飘动的同时保留水墨笔触质感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CAEB0-3ED9-4061-9C4E-8F5BBF707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42" y="1921040"/>
            <a:ext cx="4611915" cy="30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2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391400" y="5376892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展示大雪场景的综合效果</a:t>
            </a:r>
          </a:p>
        </p:txBody>
      </p:sp>
      <p:sp>
        <p:nvSpPr>
          <p:cNvPr id="38" name="AutoShape 17">
            <a:extLst>
              <a:ext uri="{FF2B5EF4-FFF2-40B4-BE49-F238E27FC236}">
                <a16:creationId xmlns:a16="http://schemas.microsoft.com/office/drawing/2014/main" id="{147E1614-C730-4251-9DE3-439052828365}"/>
              </a:ext>
            </a:extLst>
          </p:cNvPr>
          <p:cNvSpPr/>
          <p:nvPr/>
        </p:nvSpPr>
        <p:spPr>
          <a:xfrm>
            <a:off x="812800" y="1558140"/>
            <a:ext cx="5842000" cy="1431147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71DDFD70-94E2-41DB-BFE3-44F58F8485D7}"/>
              </a:ext>
            </a:extLst>
          </p:cNvPr>
          <p:cNvSpPr/>
          <p:nvPr/>
        </p:nvSpPr>
        <p:spPr>
          <a:xfrm>
            <a:off x="812800" y="1558141"/>
            <a:ext cx="50800" cy="1431146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2FB356B2-B3AC-4C95-BF5B-9962BB6177AE}"/>
              </a:ext>
            </a:extLst>
          </p:cNvPr>
          <p:cNvSpPr/>
          <p:nvPr/>
        </p:nvSpPr>
        <p:spPr>
          <a:xfrm>
            <a:off x="996538" y="1659741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粒子系统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雪花三层粒子叠加渲染</a:t>
            </a:r>
            <a:endParaRPr lang="en-US" sz="1100" dirty="0"/>
          </a:p>
        </p:txBody>
      </p:sp>
      <p:sp>
        <p:nvSpPr>
          <p:cNvPr id="42" name="AutoShape 21">
            <a:extLst>
              <a:ext uri="{FF2B5EF4-FFF2-40B4-BE49-F238E27FC236}">
                <a16:creationId xmlns:a16="http://schemas.microsoft.com/office/drawing/2014/main" id="{7C2B48B4-5835-4696-915D-680A903D17EC}"/>
              </a:ext>
            </a:extLst>
          </p:cNvPr>
          <p:cNvSpPr/>
          <p:nvPr/>
        </p:nvSpPr>
        <p:spPr>
          <a:xfrm>
            <a:off x="1003300" y="2193141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采用两套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VFX Graph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粒子系统分层叠加实现降雪效果：第一组为大尺寸雪花粒子，实例数量充足并双份排布，确保大面积降雪全域覆盖；第二组为细碎小雪粒子，数量少、排布致密，填充于大雪花间隙。二者叠加呈现大雪场景中大小雪花错落交织、同步飘落的画面质感。</a:t>
            </a:r>
            <a:endParaRPr lang="en-US" sz="1100" dirty="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60B9A971-8715-4F08-BF29-7548BF48116C}"/>
              </a:ext>
            </a:extLst>
          </p:cNvPr>
          <p:cNvSpPr/>
          <p:nvPr/>
        </p:nvSpPr>
        <p:spPr>
          <a:xfrm>
            <a:off x="812800" y="3230588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135999CC-D9E6-4595-8DF3-605BB920BC4F}"/>
              </a:ext>
            </a:extLst>
          </p:cNvPr>
          <p:cNvSpPr/>
          <p:nvPr/>
        </p:nvSpPr>
        <p:spPr>
          <a:xfrm>
            <a:off x="812800" y="3230588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0">
            <a:extLst>
              <a:ext uri="{FF2B5EF4-FFF2-40B4-BE49-F238E27FC236}">
                <a16:creationId xmlns:a16="http://schemas.microsoft.com/office/drawing/2014/main" id="{1BADF87C-8C06-4EB7-9B77-1DB8E03BA98B}"/>
              </a:ext>
            </a:extLst>
          </p:cNvPr>
          <p:cNvSpPr/>
          <p:nvPr/>
        </p:nvSpPr>
        <p:spPr>
          <a:xfrm>
            <a:off x="996538" y="3332188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地面积雪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zh-CN" altLang="en-US" sz="1800" b="1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积雪厚度、反光效果</a:t>
            </a:r>
            <a:endParaRPr lang="en-US" sz="1100" dirty="0"/>
          </a:p>
        </p:txBody>
      </p:sp>
      <p:sp>
        <p:nvSpPr>
          <p:cNvPr id="16" name="AutoShape 21">
            <a:extLst>
              <a:ext uri="{FF2B5EF4-FFF2-40B4-BE49-F238E27FC236}">
                <a16:creationId xmlns:a16="http://schemas.microsoft.com/office/drawing/2014/main" id="{C5711E19-55B4-4FBD-9DFA-9B8A531B01FF}"/>
              </a:ext>
            </a:extLst>
          </p:cNvPr>
          <p:cNvSpPr/>
          <p:nvPr/>
        </p:nvSpPr>
        <p:spPr>
          <a:xfrm>
            <a:off x="1003300" y="3865588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地面使用 </a:t>
            </a:r>
            <a:r>
              <a:rPr lang="en-US" altLang="zh-CN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SG_Terrain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着色器，通过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Snow Thickness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参数控制积雪厚度。雪面与裸露地面之间通过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Edge Noise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参数混合，边缘带有噪声扰动，避免积雪与非积雪区域的生硬界线。</a:t>
            </a:r>
            <a:endParaRPr lang="en-US" sz="11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6F57A6CE-5202-4DEF-8C41-CDBFEA06ED05}"/>
              </a:ext>
            </a:extLst>
          </p:cNvPr>
          <p:cNvSpPr/>
          <p:nvPr/>
        </p:nvSpPr>
        <p:spPr>
          <a:xfrm>
            <a:off x="812800" y="4903035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1AB3016-8930-415E-8CD0-7BFBED2AAAC0}"/>
              </a:ext>
            </a:extLst>
          </p:cNvPr>
          <p:cNvSpPr/>
          <p:nvPr/>
        </p:nvSpPr>
        <p:spPr>
          <a:xfrm>
            <a:off x="812800" y="4903035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0">
            <a:extLst>
              <a:ext uri="{FF2B5EF4-FFF2-40B4-BE49-F238E27FC236}">
                <a16:creationId xmlns:a16="http://schemas.microsoft.com/office/drawing/2014/main" id="{F5C95363-F02F-43EB-AC7B-480EA101FBF5}"/>
              </a:ext>
            </a:extLst>
          </p:cNvPr>
          <p:cNvSpPr/>
          <p:nvPr/>
        </p:nvSpPr>
        <p:spPr>
          <a:xfrm>
            <a:off x="996538" y="5004635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城墙积雪：垂直面不均匀雪量覆盖</a:t>
            </a:r>
            <a:endParaRPr lang="en-US" altLang="zh-CN" sz="1100" dirty="0"/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680075DA-EEF8-4CCE-B007-BF55E233C068}"/>
              </a:ext>
            </a:extLst>
          </p:cNvPr>
          <p:cNvSpPr/>
          <p:nvPr/>
        </p:nvSpPr>
        <p:spPr>
          <a:xfrm>
            <a:off x="1003300" y="5538035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城墙积雪通过 </a:t>
            </a:r>
            <a:r>
              <a:rPr lang="en-US" altLang="zh-CN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inkwall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着色器的噪声扰动，在垂直面上形成局部积雪、局部裸露的不均匀效果。砖墙凸起处雪量少，露出砖墙原本的材质颜色；砖缝凹陷处和城墙顶部边缘雪量多，积雪堆积更厚，呈现白色。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ACA4E9-73EA-410E-94C3-F1B973AC0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85" y="1270000"/>
            <a:ext cx="5007156" cy="385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24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>
            <a:extLst>
              <a:ext uri="{FF2B5EF4-FFF2-40B4-BE49-F238E27FC236}">
                <a16:creationId xmlns:a16="http://schemas.microsoft.com/office/drawing/2014/main" id="{6C6F1D48-D8C9-40C7-9348-86C2249E9D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0F315297-A48D-4199-A790-8FE9C0894B1A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技术实现：音效设计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9109955D-FA84-4507-8E0D-53A255A07BB3}"/>
              </a:ext>
            </a:extLst>
          </p:cNvPr>
          <p:cNvSpPr/>
          <p:nvPr/>
        </p:nvSpPr>
        <p:spPr>
          <a:xfrm>
            <a:off x="762000" y="1651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C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2EB8A62E-EADE-408A-AE7E-C811AEB41A58}"/>
              </a:ext>
            </a:extLst>
          </p:cNvPr>
          <p:cNvSpPr/>
          <p:nvPr/>
        </p:nvSpPr>
        <p:spPr>
          <a:xfrm>
            <a:off x="767931" y="1924654"/>
            <a:ext cx="4702616" cy="218506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2FC3E9FF-1C4D-44DE-AE26-CF7238118A93}"/>
              </a:ext>
            </a:extLst>
          </p:cNvPr>
          <p:cNvSpPr/>
          <p:nvPr/>
        </p:nvSpPr>
        <p:spPr>
          <a:xfrm>
            <a:off x="767931" y="1924654"/>
            <a:ext cx="4702616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14">
            <a:extLst>
              <a:ext uri="{FF2B5EF4-FFF2-40B4-BE49-F238E27FC236}">
                <a16:creationId xmlns:a16="http://schemas.microsoft.com/office/drawing/2014/main" id="{C82FC74B-21A0-448A-B75A-89674CF8A6F7}"/>
              </a:ext>
            </a:extLst>
          </p:cNvPr>
          <p:cNvSpPr/>
          <p:nvPr/>
        </p:nvSpPr>
        <p:spPr>
          <a:xfrm>
            <a:off x="1661067" y="2165459"/>
            <a:ext cx="32882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叙事音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· </a:t>
            </a:r>
            <a:r>
              <a:rPr lang="en-US" altLang="zh-CN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情绪烘托</a:t>
            </a:r>
            <a:endParaRPr lang="en-US" sz="1100" dirty="0"/>
          </a:p>
        </p:txBody>
      </p:sp>
      <p:cxnSp>
        <p:nvCxnSpPr>
          <p:cNvPr id="38" name="Connector 15">
            <a:extLst>
              <a:ext uri="{FF2B5EF4-FFF2-40B4-BE49-F238E27FC236}">
                <a16:creationId xmlns:a16="http://schemas.microsoft.com/office/drawing/2014/main" id="{2D1645C2-5B03-4B86-BFDA-194FF5B52E60}"/>
              </a:ext>
            </a:extLst>
          </p:cNvPr>
          <p:cNvCxnSpPr>
            <a:cxnSpLocks/>
          </p:cNvCxnSpPr>
          <p:nvPr/>
        </p:nvCxnSpPr>
        <p:spPr>
          <a:xfrm flipV="1">
            <a:off x="1196761" y="2714911"/>
            <a:ext cx="3995389" cy="2402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16">
            <a:extLst>
              <a:ext uri="{FF2B5EF4-FFF2-40B4-BE49-F238E27FC236}">
                <a16:creationId xmlns:a16="http://schemas.microsoft.com/office/drawing/2014/main" id="{757A8423-3ECD-4DD5-9459-512E332FFF5B}"/>
              </a:ext>
            </a:extLst>
          </p:cNvPr>
          <p:cNvSpPr/>
          <p:nvPr/>
        </p:nvSpPr>
        <p:spPr>
          <a:xfrm>
            <a:off x="1229676" y="2548755"/>
            <a:ext cx="3995456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战斗开局时播放敌方进攻号角，两种不同调性的号角声交替响起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号角之后，城墙擂鼓声持续循环，让玩家从听觉上感知战局升级的紧迫感。</a:t>
            </a:r>
          </a:p>
          <a:p>
            <a:pPr>
              <a:lnSpc>
                <a:spcPct val="116666"/>
              </a:lnSpc>
              <a:defRPr/>
            </a:pPr>
            <a:endParaRPr lang="zh-CN" altLang="en-US" sz="1600" b="1" dirty="0">
              <a:solidFill>
                <a:srgbClr val="FFFFFF">
                  <a:alpha val="90196"/>
                </a:srgbClr>
              </a:solidFill>
              <a:latin typeface="Noto Sans SC"/>
              <a:sym typeface="Noto Sans SC"/>
            </a:endParaRPr>
          </a:p>
        </p:txBody>
      </p:sp>
      <p:sp>
        <p:nvSpPr>
          <p:cNvPr id="40" name="AutoShape 17">
            <a:extLst>
              <a:ext uri="{FF2B5EF4-FFF2-40B4-BE49-F238E27FC236}">
                <a16:creationId xmlns:a16="http://schemas.microsoft.com/office/drawing/2014/main" id="{4F3C455B-408C-49D7-92D7-470763D15620}"/>
              </a:ext>
            </a:extLst>
          </p:cNvPr>
          <p:cNvSpPr/>
          <p:nvPr/>
        </p:nvSpPr>
        <p:spPr>
          <a:xfrm>
            <a:off x="6589475" y="2286000"/>
            <a:ext cx="4893964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1" name="AutoShape 18">
            <a:extLst>
              <a:ext uri="{FF2B5EF4-FFF2-40B4-BE49-F238E27FC236}">
                <a16:creationId xmlns:a16="http://schemas.microsoft.com/office/drawing/2014/main" id="{93B61767-5B91-4CA0-9567-8D358BA5F99B}"/>
              </a:ext>
            </a:extLst>
          </p:cNvPr>
          <p:cNvSpPr/>
          <p:nvPr/>
        </p:nvSpPr>
        <p:spPr>
          <a:xfrm>
            <a:off x="6589475" y="2286000"/>
            <a:ext cx="4893964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19">
            <a:extLst>
              <a:ext uri="{FF2B5EF4-FFF2-40B4-BE49-F238E27FC236}">
                <a16:creationId xmlns:a16="http://schemas.microsoft.com/office/drawing/2014/main" id="{CEBF374B-EC3E-4F7E-820E-FE7D7ACBE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2851" y="2622550"/>
            <a:ext cx="382660" cy="355600"/>
          </a:xfrm>
          <a:prstGeom prst="rect">
            <a:avLst/>
          </a:prstGeom>
        </p:spPr>
      </p:pic>
      <p:sp>
        <p:nvSpPr>
          <p:cNvPr id="43" name="AutoShape 20">
            <a:extLst>
              <a:ext uri="{FF2B5EF4-FFF2-40B4-BE49-F238E27FC236}">
                <a16:creationId xmlns:a16="http://schemas.microsoft.com/office/drawing/2014/main" id="{F288D08A-1C3A-481E-BCF6-3EDD1F8E08D9}"/>
              </a:ext>
            </a:extLst>
          </p:cNvPr>
          <p:cNvSpPr/>
          <p:nvPr/>
        </p:nvSpPr>
        <p:spPr>
          <a:xfrm>
            <a:off x="7351474" y="2529772"/>
            <a:ext cx="34220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音效系统 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音效池 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DE467FE5-08CB-45DC-B91D-9CE61A396D81}"/>
              </a:ext>
            </a:extLst>
          </p:cNvPr>
          <p:cNvCxnSpPr>
            <a:cxnSpLocks/>
          </p:cNvCxnSpPr>
          <p:nvPr/>
        </p:nvCxnSpPr>
        <p:spPr>
          <a:xfrm>
            <a:off x="6843475" y="3302000"/>
            <a:ext cx="4158074" cy="6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" name="AutoShape 22">
            <a:extLst>
              <a:ext uri="{FF2B5EF4-FFF2-40B4-BE49-F238E27FC236}">
                <a16:creationId xmlns:a16="http://schemas.microsoft.com/office/drawing/2014/main" id="{171B36C1-6CEB-42EB-955A-4D9DCB12C830}"/>
              </a:ext>
            </a:extLst>
          </p:cNvPr>
          <p:cNvSpPr/>
          <p:nvPr/>
        </p:nvSpPr>
        <p:spPr>
          <a:xfrm>
            <a:off x="6843475" y="3556000"/>
            <a:ext cx="415803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FFFFFF"/>
                </a:solidFill>
                <a:sym typeface="Noto Sans SC"/>
              </a:rPr>
              <a:t>底层采用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8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通道挂载音效池实现空间音频。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AudioManager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在场景启动时预生成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8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个 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AudioSource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存入队列，需要播放音效时从队列取出一个，通过 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PlayAttached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接口将音源挂载到目标物体的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Transform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上，防止声音嘈杂</a:t>
            </a:r>
          </a:p>
        </p:txBody>
      </p:sp>
      <p:sp>
        <p:nvSpPr>
          <p:cNvPr id="48" name="AutoShape 11">
            <a:extLst>
              <a:ext uri="{FF2B5EF4-FFF2-40B4-BE49-F238E27FC236}">
                <a16:creationId xmlns:a16="http://schemas.microsoft.com/office/drawing/2014/main" id="{7949DA76-7C37-4666-BEA0-E53F2662C982}"/>
              </a:ext>
            </a:extLst>
          </p:cNvPr>
          <p:cNvSpPr/>
          <p:nvPr/>
        </p:nvSpPr>
        <p:spPr>
          <a:xfrm>
            <a:off x="762000" y="4502134"/>
            <a:ext cx="4702616" cy="218506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2">
            <a:extLst>
              <a:ext uri="{FF2B5EF4-FFF2-40B4-BE49-F238E27FC236}">
                <a16:creationId xmlns:a16="http://schemas.microsoft.com/office/drawing/2014/main" id="{8243CE60-D38C-4E42-9713-4E9CCAEF01D8}"/>
              </a:ext>
            </a:extLst>
          </p:cNvPr>
          <p:cNvSpPr/>
          <p:nvPr/>
        </p:nvSpPr>
        <p:spPr>
          <a:xfrm>
            <a:off x="758034" y="4485173"/>
            <a:ext cx="4702616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3637C375-A152-4A38-A702-B9C5122FDA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0035" y="4819634"/>
            <a:ext cx="495012" cy="355600"/>
          </a:xfrm>
          <a:prstGeom prst="rect">
            <a:avLst/>
          </a:prstGeom>
        </p:spPr>
      </p:pic>
      <p:sp>
        <p:nvSpPr>
          <p:cNvPr id="51" name="AutoShape 14">
            <a:extLst>
              <a:ext uri="{FF2B5EF4-FFF2-40B4-BE49-F238E27FC236}">
                <a16:creationId xmlns:a16="http://schemas.microsoft.com/office/drawing/2014/main" id="{D9DCFD88-765D-4F29-A4D9-5710C3D7D4AF}"/>
              </a:ext>
            </a:extLst>
          </p:cNvPr>
          <p:cNvSpPr/>
          <p:nvPr/>
        </p:nvSpPr>
        <p:spPr>
          <a:xfrm>
            <a:off x="1655136" y="4742939"/>
            <a:ext cx="32882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战斗音</a:t>
            </a:r>
            <a:r>
              <a:rPr 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· </a:t>
            </a: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反馈</a:t>
            </a:r>
            <a:endParaRPr lang="en-US" sz="1100" dirty="0"/>
          </a:p>
        </p:txBody>
      </p: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6C71D569-C8DC-46A0-ADE8-D138D7A2954E}"/>
              </a:ext>
            </a:extLst>
          </p:cNvPr>
          <p:cNvCxnSpPr>
            <a:cxnSpLocks/>
          </p:cNvCxnSpPr>
          <p:nvPr/>
        </p:nvCxnSpPr>
        <p:spPr>
          <a:xfrm flipV="1">
            <a:off x="1215255" y="5518134"/>
            <a:ext cx="3995389" cy="2402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16">
            <a:extLst>
              <a:ext uri="{FF2B5EF4-FFF2-40B4-BE49-F238E27FC236}">
                <a16:creationId xmlns:a16="http://schemas.microsoft.com/office/drawing/2014/main" id="{4DEC9D6A-951D-4C7C-BC2C-AAA1907CCAE7}"/>
              </a:ext>
            </a:extLst>
          </p:cNvPr>
          <p:cNvSpPr/>
          <p:nvPr/>
        </p:nvSpPr>
        <p:spPr>
          <a:xfrm>
            <a:off x="1186492" y="5213830"/>
            <a:ext cx="3995456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敌方弓弦绷紧、箭矢离弦、命中城墙完整音效层层递进形成压迫感</a:t>
            </a:r>
            <a:endParaRPr lang="en-US" altLang="zh-CN" sz="1200" dirty="0">
              <a:solidFill>
                <a:srgbClr val="FFFFFF"/>
              </a:solidFill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玩家射出的弩箭同样配有独立的破空音效，音源挂载在箭矢上跟随飞行</a:t>
            </a:r>
            <a:endParaRPr lang="zh-CN" altLang="en-US" sz="1600" b="1" dirty="0">
              <a:solidFill>
                <a:srgbClr val="FFFFFF">
                  <a:alpha val="90196"/>
                </a:srgbClr>
              </a:solidFill>
              <a:latin typeface="Noto Sans SC"/>
              <a:sym typeface="Noto Sans SC"/>
            </a:endParaRPr>
          </a:p>
        </p:txBody>
      </p:sp>
      <p:pic>
        <p:nvPicPr>
          <p:cNvPr id="55" name="Picture 7">
            <a:extLst>
              <a:ext uri="{FF2B5EF4-FFF2-40B4-BE49-F238E27FC236}">
                <a16:creationId xmlns:a16="http://schemas.microsoft.com/office/drawing/2014/main" id="{F778DA9D-44AE-489C-8DF7-0E0BE93A5E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2897" y="224151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>
            <a:extLst>
              <a:ext uri="{FF2B5EF4-FFF2-40B4-BE49-F238E27FC236}">
                <a16:creationId xmlns:a16="http://schemas.microsoft.com/office/drawing/2014/main" id="{93B3DFD8-D9E6-44F5-A853-531E90CA55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7C4BE4CD-CCDD-4FA8-890D-B2331F19EC5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性能优化：保证流畅体验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29FC8E69-37BA-4AD9-A952-9533F97BF0A5}"/>
              </a:ext>
            </a:extLst>
          </p:cNvPr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52DEB647-246E-4F0A-B8C6-5D3B5ABDF964}"/>
              </a:ext>
            </a:extLst>
          </p:cNvPr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F0B5BECC-7F67-4A70-8415-AB7396F5316A}"/>
              </a:ext>
            </a:extLst>
          </p:cNvPr>
          <p:cNvSpPr/>
          <p:nvPr/>
        </p:nvSpPr>
        <p:spPr>
          <a:xfrm>
            <a:off x="1016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对象池</a:t>
            </a:r>
            <a:r>
              <a:rPr lang="en-US" sz="20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优化</a:t>
            </a:r>
            <a:endParaRPr lang="en-US" sz="1100" dirty="0"/>
          </a:p>
        </p:txBody>
      </p:sp>
      <p:cxnSp>
        <p:nvCxnSpPr>
          <p:cNvPr id="30" name="Connector 7">
            <a:extLst>
              <a:ext uri="{FF2B5EF4-FFF2-40B4-BE49-F238E27FC236}">
                <a16:creationId xmlns:a16="http://schemas.microsoft.com/office/drawing/2014/main" id="{B6F5E36E-6896-48BB-B757-069BBC363B19}"/>
              </a:ext>
            </a:extLst>
          </p:cNvPr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8">
            <a:extLst>
              <a:ext uri="{FF2B5EF4-FFF2-40B4-BE49-F238E27FC236}">
                <a16:creationId xmlns:a16="http://schemas.microsoft.com/office/drawing/2014/main" id="{BA37A76F-9857-41B0-B76D-B9DB4D4C5BBA}"/>
              </a:ext>
            </a:extLst>
          </p:cNvPr>
          <p:cNvSpPr/>
          <p:nvPr/>
        </p:nvSpPr>
        <p:spPr>
          <a:xfrm>
            <a:off x="1016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箭雨、骑兵使用</a:t>
            </a:r>
            <a:r>
              <a:rPr lang="en-US" altLang="zh-CN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UnityEngine.Pool.ObjectPool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altLang="zh-CN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GameObject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对象池，避免运行时 堆 上频繁的 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GC 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抖动</a:t>
            </a:r>
            <a:endParaRPr lang="en-US" sz="1100" dirty="0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CB856E3-074C-49CE-83F4-0722442CFB36}"/>
              </a:ext>
            </a:extLst>
          </p:cNvPr>
          <p:cNvSpPr/>
          <p:nvPr/>
        </p:nvSpPr>
        <p:spPr>
          <a:xfrm>
            <a:off x="4064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zh-CN" altLang="en-US" sz="1200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降低</a:t>
            </a:r>
            <a:r>
              <a:rPr lang="en-US" altLang="zh-CN" sz="1200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Garbage Collection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DEA34706-699D-4CB0-9CAD-9D8A0DC960B9}"/>
              </a:ext>
            </a:extLst>
          </p:cNvPr>
          <p:cNvSpPr/>
          <p:nvPr/>
        </p:nvSpPr>
        <p:spPr>
          <a:xfrm>
            <a:off x="6350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F6D75D3D-84A8-4EA9-AF78-E156EFFA729E}"/>
              </a:ext>
            </a:extLst>
          </p:cNvPr>
          <p:cNvSpPr/>
          <p:nvPr/>
        </p:nvSpPr>
        <p:spPr>
          <a:xfrm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DB858B8B-6F61-4BF3-A246-63B117FAB3E4}"/>
              </a:ext>
            </a:extLst>
          </p:cNvPr>
          <p:cNvSpPr/>
          <p:nvPr/>
        </p:nvSpPr>
        <p:spPr>
          <a:xfrm>
            <a:off x="6604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</a:t>
            </a:r>
            <a:r>
              <a:rPr lang="en-US" sz="20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模型与材质轻量化</a:t>
            </a:r>
            <a:endParaRPr lang="en-US" sz="1100" dirty="0"/>
          </a:p>
        </p:txBody>
      </p: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7D060100-21C0-4CEF-B105-7DE5E18CF622}"/>
              </a:ext>
            </a:extLst>
          </p:cNvPr>
          <p:cNvCxnSpPr/>
          <p:nvPr/>
        </p:nvCxnSpPr>
        <p:spPr>
          <a:xfrm rot="-9291">
            <a:off x="6604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4">
            <a:extLst>
              <a:ext uri="{FF2B5EF4-FFF2-40B4-BE49-F238E27FC236}">
                <a16:creationId xmlns:a16="http://schemas.microsoft.com/office/drawing/2014/main" id="{2AF1D58A-31F8-42DB-937A-FF2F5B8CCFC0}"/>
              </a:ext>
            </a:extLst>
          </p:cNvPr>
          <p:cNvSpPr/>
          <p:nvPr/>
        </p:nvSpPr>
        <p:spPr>
          <a:xfrm>
            <a:off x="6604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精简非关键模型面数，采用ETC2等压缩纹理格式，并移除Shader中昂贵的数学运算，大幅降低显存与渲染负载。</a:t>
            </a:r>
            <a:endParaRPr lang="en-US" sz="1100" dirty="0"/>
          </a:p>
        </p:txBody>
      </p:sp>
      <p:sp>
        <p:nvSpPr>
          <p:cNvPr id="38" name="AutoShape 15">
            <a:extLst>
              <a:ext uri="{FF2B5EF4-FFF2-40B4-BE49-F238E27FC236}">
                <a16:creationId xmlns:a16="http://schemas.microsoft.com/office/drawing/2014/main" id="{C5CA6377-FB4F-4AE9-889B-CE940ABEA09C}"/>
              </a:ext>
            </a:extLst>
          </p:cNvPr>
          <p:cNvSpPr/>
          <p:nvPr/>
        </p:nvSpPr>
        <p:spPr>
          <a:xfrm>
            <a:off x="9652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内存占用显著减少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16">
            <a:extLst>
              <a:ext uri="{FF2B5EF4-FFF2-40B4-BE49-F238E27FC236}">
                <a16:creationId xmlns:a16="http://schemas.microsoft.com/office/drawing/2014/main" id="{B99A5B7E-653C-4EE7-AC68-6A5DD6017B0A}"/>
              </a:ext>
            </a:extLst>
          </p:cNvPr>
          <p:cNvSpPr/>
          <p:nvPr/>
        </p:nvSpPr>
        <p:spPr>
          <a:xfrm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7">
            <a:extLst>
              <a:ext uri="{FF2B5EF4-FFF2-40B4-BE49-F238E27FC236}">
                <a16:creationId xmlns:a16="http://schemas.microsoft.com/office/drawing/2014/main" id="{AA477E9A-57B5-4877-B5BC-AC09396DE2BB}"/>
              </a:ext>
            </a:extLst>
          </p:cNvPr>
          <p:cNvSpPr/>
          <p:nvPr/>
        </p:nvSpPr>
        <p:spPr>
          <a:xfrm>
            <a:off x="762000" y="425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18">
            <a:extLst>
              <a:ext uri="{FF2B5EF4-FFF2-40B4-BE49-F238E27FC236}">
                <a16:creationId xmlns:a16="http://schemas.microsoft.com/office/drawing/2014/main" id="{5DB68649-D80B-4C6D-AFE0-4B552BBFF092}"/>
              </a:ext>
            </a:extLst>
          </p:cNvPr>
          <p:cNvSpPr/>
          <p:nvPr/>
        </p:nvSpPr>
        <p:spPr>
          <a:xfrm>
            <a:off x="10160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按需禁用 </a:t>
            </a:r>
            <a:r>
              <a:rPr lang="en-US" altLang="zh-CN"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NavMesh</a:t>
            </a:r>
            <a:endParaRPr lang="en-US" sz="1100" dirty="0"/>
          </a:p>
        </p:txBody>
      </p:sp>
      <p:cxnSp>
        <p:nvCxnSpPr>
          <p:cNvPr id="42" name="Connector 19">
            <a:extLst>
              <a:ext uri="{FF2B5EF4-FFF2-40B4-BE49-F238E27FC236}">
                <a16:creationId xmlns:a16="http://schemas.microsoft.com/office/drawing/2014/main" id="{A417252B-2AC0-4203-B69E-FA2FBDD925C8}"/>
              </a:ext>
            </a:extLst>
          </p:cNvPr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20">
            <a:extLst>
              <a:ext uri="{FF2B5EF4-FFF2-40B4-BE49-F238E27FC236}">
                <a16:creationId xmlns:a16="http://schemas.microsoft.com/office/drawing/2014/main" id="{758918C5-C9EE-4D19-B8FC-FAD7EDAECD83}"/>
              </a:ext>
            </a:extLst>
          </p:cNvPr>
          <p:cNvSpPr/>
          <p:nvPr/>
        </p:nvSpPr>
        <p:spPr>
          <a:xfrm>
            <a:off x="10160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到达城墙后 </a:t>
            </a: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agent.enabled</a:t>
            </a: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=false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，降低寻路计算开销</a:t>
            </a:r>
          </a:p>
        </p:txBody>
      </p:sp>
      <p:sp>
        <p:nvSpPr>
          <p:cNvPr id="44" name="AutoShape 21">
            <a:extLst>
              <a:ext uri="{FF2B5EF4-FFF2-40B4-BE49-F238E27FC236}">
                <a16:creationId xmlns:a16="http://schemas.microsoft.com/office/drawing/2014/main" id="{6F133977-50ED-41B5-9D0F-84E8E09327D3}"/>
              </a:ext>
            </a:extLst>
          </p:cNvPr>
          <p:cNvSpPr/>
          <p:nvPr/>
        </p:nvSpPr>
        <p:spPr>
          <a:xfrm>
            <a:off x="4064000" y="5080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计算开销降低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问题解决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857" y="2231242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51857" y="2205842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PICO SDK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兼容性问题</a:t>
            </a:r>
            <a:endParaRPr lang="en-US" sz="1100" dirty="0"/>
          </a:p>
        </p:txBody>
      </p:sp>
      <p:cxnSp>
        <p:nvCxnSpPr>
          <p:cNvPr id="13" name="Connector 13"/>
          <p:cNvCxnSpPr>
            <a:cxnSpLocks/>
          </p:cNvCxnSpPr>
          <p:nvPr/>
        </p:nvCxnSpPr>
        <p:spPr>
          <a:xfrm rot="-14946">
            <a:off x="817598" y="2781713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65084" y="2841255"/>
            <a:ext cx="10564915" cy="28226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逐层排查过程：</a:t>
            </a:r>
          </a:p>
          <a:p>
            <a:pPr indent="0" algn="l">
              <a:lnSpc>
                <a:spcPct val="125000"/>
              </a:lnSpc>
              <a:defRPr/>
            </a:pPr>
            <a:endParaRPr lang="zh-CN" altLang="en-US"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1.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检查配置：逐一核对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PXR_ProjectSetting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各项参数（立体渲染模式、注视点渲染、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Controller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类型等），确认均参照文档设置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2.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升级系统固件：将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3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系统固件升级至最新版本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闪退依旧，排除设备系统兼容问题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空场景隔离测试：新建空白场景，仅保留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Origin + PICO SDK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，打包测试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空场景同样闪退，排除项目自身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25+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脚本、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Shader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、预制体的业务逻辑冲突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4.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对比可运行项目：对比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Bilibili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教程里可正常运行的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项目，发现其使用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SDK v3.1.0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而非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怀疑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版本本身与当前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Unity/Pico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版本不兼容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5.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降级验证：前往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Github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Release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界面，下载老版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，将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从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降级至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，重新打包空场景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——APK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正常运行，头显画面正常显示，确认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Unity 2022.3.62f3c1/Pico 3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存在兼容性冲突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6.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全功能回归：将整个战斗场景迁移至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环境，所有战斗系统、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Shader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特效、音效功能通过验证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ED3E1F18-6927-4D91-82E5-1EEED94ABC87}"/>
              </a:ext>
            </a:extLst>
          </p:cNvPr>
          <p:cNvSpPr/>
          <p:nvPr/>
        </p:nvSpPr>
        <p:spPr>
          <a:xfrm>
            <a:off x="762000" y="59944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7" name="AutoShape 17"/>
          <p:cNvSpPr/>
          <p:nvPr/>
        </p:nvSpPr>
        <p:spPr>
          <a:xfrm>
            <a:off x="1251857" y="5994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 err="1">
                <a:solidFill>
                  <a:schemeClr val="bg1"/>
                </a:solidFill>
                <a:latin typeface="Microsoft YaHei"/>
                <a:ea typeface="Microsoft YaHei"/>
              </a:rPr>
              <a:t>真机验证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909454" y="6056415"/>
            <a:ext cx="5664529" cy="3551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3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稳定运行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全功能通过测试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性能达标</a:t>
            </a:r>
            <a:endParaRPr lang="en-US" sz="11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A8A66AD-2822-496A-A7EF-9D62A8FB1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124" y="57523"/>
            <a:ext cx="4460876" cy="31869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价值延伸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3BD36647-3A0A-470C-9230-34B657286096}"/>
              </a:ext>
            </a:extLst>
          </p:cNvPr>
          <p:cNvSpPr/>
          <p:nvPr/>
        </p:nvSpPr>
        <p:spPr>
          <a:xfrm>
            <a:off x="762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C4A82E54-6658-4141-A122-1F35B403F12C}"/>
              </a:ext>
            </a:extLst>
          </p:cNvPr>
          <p:cNvSpPr/>
          <p:nvPr/>
        </p:nvSpPr>
        <p:spPr>
          <a:xfrm>
            <a:off x="762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7">
            <a:extLst>
              <a:ext uri="{FF2B5EF4-FFF2-40B4-BE49-F238E27FC236}">
                <a16:creationId xmlns:a16="http://schemas.microsoft.com/office/drawing/2014/main" id="{E219DC3A-AEE7-4A48-B401-C8BC52240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30" name="AutoShape 8">
            <a:extLst>
              <a:ext uri="{FF2B5EF4-FFF2-40B4-BE49-F238E27FC236}">
                <a16:creationId xmlns:a16="http://schemas.microsoft.com/office/drawing/2014/main" id="{8678C715-B7F8-4871-97E2-42EB11A35066}"/>
              </a:ext>
            </a:extLst>
          </p:cNvPr>
          <p:cNvSpPr/>
          <p:nvPr/>
        </p:nvSpPr>
        <p:spPr>
          <a:xfrm>
            <a:off x="1587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数字文旅</a:t>
            </a:r>
            <a:endParaRPr lang="en-US" sz="1100" dirty="0"/>
          </a:p>
        </p:txBody>
      </p: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154FB518-AACB-4EBC-944B-47FCE4D39A5A}"/>
              </a:ext>
            </a:extLst>
          </p:cNvPr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10">
            <a:extLst>
              <a:ext uri="{FF2B5EF4-FFF2-40B4-BE49-F238E27FC236}">
                <a16:creationId xmlns:a16="http://schemas.microsoft.com/office/drawing/2014/main" id="{08B117D9-B273-46DF-B174-74408903F8DF}"/>
              </a:ext>
            </a:extLst>
          </p:cNvPr>
          <p:cNvSpPr/>
          <p:nvPr/>
        </p:nvSpPr>
        <p:spPr>
          <a:xfrm>
            <a:off x="952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制作疏勒城数字建模资产，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《孤城》落地博物馆、历史景区，打造沉浸式文化体验新范式。让游客“亲身”置身历史场景，以互动形式提升文化传播的效率与深度，重构文旅体验的边界。</a:t>
            </a:r>
            <a:endParaRPr lang="en-US" sz="1100" dirty="0"/>
          </a:p>
        </p:txBody>
      </p:sp>
      <p:sp>
        <p:nvSpPr>
          <p:cNvPr id="33" name="AutoShape 11">
            <a:extLst>
              <a:ext uri="{FF2B5EF4-FFF2-40B4-BE49-F238E27FC236}">
                <a16:creationId xmlns:a16="http://schemas.microsoft.com/office/drawing/2014/main" id="{BBF3558B-4A65-46D6-B199-0E2F11DC00EF}"/>
              </a:ext>
            </a:extLst>
          </p:cNvPr>
          <p:cNvSpPr/>
          <p:nvPr/>
        </p:nvSpPr>
        <p:spPr>
          <a:xfrm>
            <a:off x="43815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878662E1-82CD-45CF-9AC0-836061960CD6}"/>
              </a:ext>
            </a:extLst>
          </p:cNvPr>
          <p:cNvSpPr/>
          <p:nvPr/>
        </p:nvSpPr>
        <p:spPr>
          <a:xfrm>
            <a:off x="43815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13">
            <a:extLst>
              <a:ext uri="{FF2B5EF4-FFF2-40B4-BE49-F238E27FC236}">
                <a16:creationId xmlns:a16="http://schemas.microsoft.com/office/drawing/2014/main" id="{16BC998B-C1C2-43B8-8ABC-AD76E26088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603500"/>
            <a:ext cx="406400" cy="406400"/>
          </a:xfrm>
          <a:prstGeom prst="rect">
            <a:avLst/>
          </a:prstGeom>
        </p:spPr>
      </p:pic>
      <p:sp>
        <p:nvSpPr>
          <p:cNvPr id="36" name="AutoShape 14">
            <a:extLst>
              <a:ext uri="{FF2B5EF4-FFF2-40B4-BE49-F238E27FC236}">
                <a16:creationId xmlns:a16="http://schemas.microsoft.com/office/drawing/2014/main" id="{992D1396-05B3-4A4F-803D-D30DD7521E90}"/>
              </a:ext>
            </a:extLst>
          </p:cNvPr>
          <p:cNvSpPr/>
          <p:nvPr/>
        </p:nvSpPr>
        <p:spPr>
          <a:xfrm>
            <a:off x="52070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体感教育</a:t>
            </a:r>
            <a:endParaRPr lang="en-US" sz="1100"/>
          </a:p>
        </p:txBody>
      </p:sp>
      <p:cxnSp>
        <p:nvCxnSpPr>
          <p:cNvPr id="37" name="Connector 15">
            <a:extLst>
              <a:ext uri="{FF2B5EF4-FFF2-40B4-BE49-F238E27FC236}">
                <a16:creationId xmlns:a16="http://schemas.microsoft.com/office/drawing/2014/main" id="{57D2BA75-90A8-44A1-A8A8-931047B46F8E}"/>
              </a:ext>
            </a:extLst>
          </p:cNvPr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16">
            <a:extLst>
              <a:ext uri="{FF2B5EF4-FFF2-40B4-BE49-F238E27FC236}">
                <a16:creationId xmlns:a16="http://schemas.microsoft.com/office/drawing/2014/main" id="{0D107316-EDC2-4922-A39A-07897446DCAD}"/>
              </a:ext>
            </a:extLst>
          </p:cNvPr>
          <p:cNvSpPr/>
          <p:nvPr/>
        </p:nvSpPr>
        <p:spPr>
          <a:xfrm>
            <a:off x="45720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携手教育机构开发历史课程配套内容，以体感交互技术为核心，让学生在沉浸式游戏中触摸历史细节，加深对历史事件与人物的理解，让知识传递更生动可感。</a:t>
            </a:r>
            <a:endParaRPr lang="en-US" sz="1100" dirty="0"/>
          </a:p>
        </p:txBody>
      </p:sp>
      <p:sp>
        <p:nvSpPr>
          <p:cNvPr id="39" name="AutoShape 17">
            <a:extLst>
              <a:ext uri="{FF2B5EF4-FFF2-40B4-BE49-F238E27FC236}">
                <a16:creationId xmlns:a16="http://schemas.microsoft.com/office/drawing/2014/main" id="{832B8387-B608-4F00-A10E-028A2EA4E33F}"/>
              </a:ext>
            </a:extLst>
          </p:cNvPr>
          <p:cNvSpPr/>
          <p:nvPr/>
        </p:nvSpPr>
        <p:spPr>
          <a:xfrm>
            <a:off x="8001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8">
            <a:extLst>
              <a:ext uri="{FF2B5EF4-FFF2-40B4-BE49-F238E27FC236}">
                <a16:creationId xmlns:a16="http://schemas.microsoft.com/office/drawing/2014/main" id="{6B8F87CA-8342-40B4-A75B-4C1CAA9BFE19}"/>
              </a:ext>
            </a:extLst>
          </p:cNvPr>
          <p:cNvSpPr/>
          <p:nvPr/>
        </p:nvSpPr>
        <p:spPr>
          <a:xfrm>
            <a:off x="8001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19">
            <a:extLst>
              <a:ext uri="{FF2B5EF4-FFF2-40B4-BE49-F238E27FC236}">
                <a16:creationId xmlns:a16="http://schemas.microsoft.com/office/drawing/2014/main" id="{99944967-CD7B-47C4-BE8D-7B1310C050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603500"/>
            <a:ext cx="406400" cy="406400"/>
          </a:xfrm>
          <a:prstGeom prst="rect">
            <a:avLst/>
          </a:prstGeom>
        </p:spPr>
      </p:pic>
      <p:sp>
        <p:nvSpPr>
          <p:cNvPr id="42" name="AutoShape 20">
            <a:extLst>
              <a:ext uri="{FF2B5EF4-FFF2-40B4-BE49-F238E27FC236}">
                <a16:creationId xmlns:a16="http://schemas.microsoft.com/office/drawing/2014/main" id="{6F8AFE9C-B91C-46E1-90C3-8AE03CE9FE7A}"/>
              </a:ext>
            </a:extLst>
          </p:cNvPr>
          <p:cNvSpPr/>
          <p:nvPr/>
        </p:nvSpPr>
        <p:spPr>
          <a:xfrm>
            <a:off x="8826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爱国主义教育</a:t>
            </a:r>
            <a:endParaRPr lang="en-US" sz="1100"/>
          </a:p>
        </p:txBody>
      </p:sp>
      <p:cxnSp>
        <p:nvCxnSpPr>
          <p:cNvPr id="43" name="Connector 21">
            <a:extLst>
              <a:ext uri="{FF2B5EF4-FFF2-40B4-BE49-F238E27FC236}">
                <a16:creationId xmlns:a16="http://schemas.microsoft.com/office/drawing/2014/main" id="{9451761E-787F-44E7-BC42-A5194E4E7E38}"/>
              </a:ext>
            </a:extLst>
          </p:cNvPr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" name="AutoShape 22">
            <a:extLst>
              <a:ext uri="{FF2B5EF4-FFF2-40B4-BE49-F238E27FC236}">
                <a16:creationId xmlns:a16="http://schemas.microsoft.com/office/drawing/2014/main" id="{F1044C20-5FA2-42EB-AD1A-76AF4220F0E3}"/>
              </a:ext>
            </a:extLst>
          </p:cNvPr>
          <p:cNvSpPr/>
          <p:nvPr/>
        </p:nvSpPr>
        <p:spPr>
          <a:xfrm>
            <a:off x="8191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深度弘扬“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耿恭精神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传递忠诚、坚守、不屈不挠的民族气节。使其成为新时代下承载家国情怀、凝聚民族精神力量的爱国主义教育新载体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5" name="AutoShape 23">
            <a:extLst>
              <a:ext uri="{FF2B5EF4-FFF2-40B4-BE49-F238E27FC236}">
                <a16:creationId xmlns:a16="http://schemas.microsoft.com/office/drawing/2014/main" id="{828F3A42-820D-400B-8EF7-68C1751CD319}"/>
              </a:ext>
            </a:extLst>
          </p:cNvPr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24">
            <a:extLst>
              <a:ext uri="{FF2B5EF4-FFF2-40B4-BE49-F238E27FC236}">
                <a16:creationId xmlns:a16="http://schemas.microsoft.com/office/drawing/2014/main" id="{ECE523A4-648E-413B-92D5-757BA4EE995E}"/>
              </a:ext>
            </a:extLst>
          </p:cNvPr>
          <p:cNvSpPr/>
          <p:nvPr/>
        </p:nvSpPr>
        <p:spPr>
          <a:xfrm>
            <a:off x="952500" y="59055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从虚拟游戏到现实赋能，《孤城》构建了历史与现代的精神桥梁，让文化传承在互动体验中焕发新的生命力。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7B241860-00BE-460B-A7B0-B51E49098A06}"/>
              </a:ext>
            </a:extLst>
          </p:cNvPr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孤城不孤，魂归玉门</a:t>
            </a:r>
            <a:endParaRPr lang="en-US" sz="11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9C75464C-6219-4C66-9A58-DBAF4CB974A7}"/>
              </a:ext>
            </a:extLst>
          </p:cNvPr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2551</Words>
  <Application>Microsoft Office PowerPoint</Application>
  <PresentationFormat>宽屏</PresentationFormat>
  <Paragraphs>267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Microsoft YaHei Light</vt:lpstr>
      <vt:lpstr>Noto Sans SC</vt:lpstr>
      <vt:lpstr>Noto Serif SC</vt:lpstr>
      <vt:lpstr>Microsoft YaHei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210</cp:revision>
  <dcterms:modified xsi:type="dcterms:W3CDTF">2026-06-16T06:08:31Z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{"Label":"1","ContentProducer":"001191110102MACQD9K64010000","ProduceID":"7650891731349588961","ReservedCode1":"","ContentPropagator":"","PropagateID":"","ReservedCode2":""}</vt:lpwstr>
  </property>
</Properties>
</file>